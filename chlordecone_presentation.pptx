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7" r:id="rId9"/>
    <p:sldId id="268" r:id="rId10"/>
    <p:sldId id="269" r:id="rId11"/>
    <p:sldId id="270" r:id="rId12"/>
    <p:sldId id="271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C39E"/>
    <a:srgbClr val="385723"/>
    <a:srgbClr val="96C058"/>
    <a:srgbClr val="E2F0D9"/>
    <a:srgbClr val="3DAD40"/>
    <a:srgbClr val="7A90AE"/>
    <a:srgbClr val="548235"/>
    <a:srgbClr val="14735A"/>
    <a:srgbClr val="62A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0956F921-2253-C81A-6626-1BD42D051C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9A6BB04-5E62-67D1-BC45-EEFF07E386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D0246-278B-47A5-96D7-061DF3C01EBA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BF054AA-D6D8-9814-8349-5CA8180C4A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2743AA-29BD-01E8-158E-BF82F65FF5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55F50-E309-4E76-9A8D-C954560C0D2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0248576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010509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185F5-0D86-056B-1A3C-E52A9B299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7347AC-4E4B-4946-E89B-B82D95391F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006338-C9AF-1846-CADF-48768C528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6ABA2-71BE-3F8C-E9F7-AEAC0A4F7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37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B5024-2058-6720-E2D0-AABD39D16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10DDE-0FE3-6157-B44D-CFFF4F337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7AE172-A7E8-896C-AD65-0CAD41D4B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77DDE-A089-527F-F400-78E9F58B58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04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401B9-39AC-9FD8-FCD2-59B3686C2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D23AD9-D7A2-78A3-9999-87105B3C2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CDC36C-21A0-FECE-20C7-D156767AB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24654-875D-76DE-CB83-CA11002DE5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22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01B14-E2C2-CC32-80F3-AFCA3DD1D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30D7F5-09CB-5822-CBD4-D9D0D8310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97B5C9-AB3C-F1FE-C2E7-B009F1CDA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15A9E-EF75-036E-F0CA-A6111CDFD9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819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BD8B1-4D38-11B4-723A-509B3570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50E649-D078-B3C3-E337-F3A621D39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B75869-6347-33D8-3CED-983C1817B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9A16D-76B7-C241-D6C2-7E0B53C05F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45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A9B2D-80FD-DD17-9834-DE55AA9CD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FACCA-981D-764D-8F0E-A2C721C79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620F21-1CA1-9DD7-98C3-433EAD1CE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8F25-5452-6D24-9FAF-0411122BC6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24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5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74564" y="11430"/>
            <a:ext cx="3869436" cy="51320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0080" y="457200"/>
            <a:ext cx="54864" cy="4023360"/>
          </a:xfrm>
          <a:prstGeom prst="rect">
            <a:avLst/>
          </a:prstGeom>
          <a:solidFill>
            <a:srgbClr val="62A5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59" y="1005840"/>
            <a:ext cx="63374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Analyse</a:t>
            </a: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de la Contamination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59" y="22860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62A53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 la </a:t>
            </a:r>
            <a:r>
              <a:rPr lang="en-US" sz="3000" b="1" dirty="0" err="1">
                <a:solidFill>
                  <a:srgbClr val="62A53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Chlordécone</a:t>
            </a:r>
            <a:r>
              <a:rPr lang="en-US" sz="3000" b="1" dirty="0">
                <a:solidFill>
                  <a:srgbClr val="62A53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62A53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</a:t>
            </a:r>
            <a:r>
              <a:rPr lang="en-US" sz="3000" b="1" dirty="0">
                <a:solidFill>
                  <a:srgbClr val="62A53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Martinique</a:t>
            </a:r>
            <a:endParaRPr lang="en-US" sz="3000" dirty="0">
              <a:solidFill>
                <a:srgbClr val="62A5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457019A2-9BCA-011C-C659-291C0A4719FA}"/>
              </a:ext>
            </a:extLst>
          </p:cNvPr>
          <p:cNvSpPr/>
          <p:nvPr/>
        </p:nvSpPr>
        <p:spPr>
          <a:xfrm>
            <a:off x="822959" y="3855427"/>
            <a:ext cx="36794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Sergina</a:t>
            </a:r>
            <a:r>
              <a:rPr lang="en-US" i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BAKALA</a:t>
            </a:r>
          </a:p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1A SD</a:t>
            </a:r>
          </a:p>
          <a:p>
            <a:pPr marL="0" indent="0">
              <a:buNone/>
            </a:pPr>
            <a:r>
              <a:rPr lang="en-US" i="1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Année</a:t>
            </a:r>
            <a:r>
              <a:rPr lang="en-US" i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universitaire</a:t>
            </a:r>
            <a:r>
              <a:rPr lang="en-US" i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2025-2026</a:t>
            </a:r>
            <a:endParaRPr lang="en-US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Image 30" descr="Une image contenant carte, Graphique&#10;&#10;Le contenu généré par l’IA peut être incorrect.">
            <a:extLst>
              <a:ext uri="{FF2B5EF4-FFF2-40B4-BE49-F238E27FC236}">
                <a16:creationId xmlns:a16="http://schemas.microsoft.com/office/drawing/2014/main" id="{7D311D9F-6139-44D5-9DFA-C57E9A1E0B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92774" y="-24938"/>
            <a:ext cx="8065709" cy="49876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649224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5" name="Text 3"/>
          <p:cNvSpPr/>
          <p:nvPr/>
        </p:nvSpPr>
        <p:spPr>
          <a:xfrm>
            <a:off x="182880" y="1097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400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Sommaire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95300" y="777240"/>
            <a:ext cx="45720" cy="3300984"/>
          </a:xfrm>
          <a:prstGeom prst="rect">
            <a:avLst/>
          </a:prstGeom>
          <a:solidFill>
            <a:srgbClr val="62A5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97180" y="694944"/>
            <a:ext cx="502920" cy="502920"/>
          </a:xfrm>
          <a:prstGeom prst="ellipse">
            <a:avLst/>
          </a:prstGeom>
          <a:solidFill>
            <a:schemeClr val="accent6">
              <a:lumMod val="75000"/>
            </a:schemeClr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97180" y="683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01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77824" y="731520"/>
            <a:ext cx="6063996" cy="685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877824" y="731520"/>
            <a:ext cx="54864" cy="68580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014984" y="786384"/>
            <a:ext cx="42199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Contexte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et </a:t>
            </a:r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analyse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préliminaire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14984" y="104025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· Doublons · Types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7180" y="1636776"/>
            <a:ext cx="502920" cy="502920"/>
          </a:xfrm>
          <a:prstGeom prst="ellipse">
            <a:avLst/>
          </a:prstGeom>
          <a:solidFill>
            <a:srgbClr val="3DAD40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97180" y="1636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02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05256" y="1632780"/>
            <a:ext cx="6036564" cy="685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877824" y="1618488"/>
            <a:ext cx="54864" cy="685800"/>
          </a:xfrm>
          <a:prstGeom prst="rect">
            <a:avLst/>
          </a:prstGeom>
          <a:solidFill>
            <a:srgbClr val="3DAD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014984" y="1673352"/>
            <a:ext cx="59542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Analyse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Exploratoire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et preparation des données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14984" y="1984248"/>
            <a:ext cx="42199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7A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 · Valeurs </a:t>
            </a:r>
            <a:r>
              <a:rPr lang="en-US" sz="1300" i="1" dirty="0" err="1">
                <a:solidFill>
                  <a:srgbClr val="7A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manquantes</a:t>
            </a:r>
            <a:r>
              <a:rPr lang="en-US" sz="1300" i="1" dirty="0">
                <a:solidFill>
                  <a:srgbClr val="7A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Imputation KNN · Outliers </a:t>
            </a:r>
            <a:endParaRPr lang="en-US" sz="1300" i="1" dirty="0"/>
          </a:p>
        </p:txBody>
      </p:sp>
      <p:sp>
        <p:nvSpPr>
          <p:cNvPr id="20" name="Shape 18"/>
          <p:cNvSpPr/>
          <p:nvPr/>
        </p:nvSpPr>
        <p:spPr>
          <a:xfrm>
            <a:off x="297180" y="2523744"/>
            <a:ext cx="502920" cy="502920"/>
          </a:xfrm>
          <a:prstGeom prst="ellipse">
            <a:avLst/>
          </a:prstGeom>
          <a:solidFill>
            <a:srgbClr val="96C058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97180" y="2523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03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77824" y="2505456"/>
            <a:ext cx="6063996" cy="685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877824" y="2505456"/>
            <a:ext cx="54864" cy="685800"/>
          </a:xfrm>
          <a:prstGeom prst="rect">
            <a:avLst/>
          </a:prstGeom>
          <a:solidFill>
            <a:srgbClr val="96C05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1014984" y="2871216"/>
            <a:ext cx="43266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  et CAH</a:t>
            </a:r>
            <a:endParaRPr lang="en-US" sz="1300" i="1" dirty="0"/>
          </a:p>
        </p:txBody>
      </p:sp>
      <p:sp>
        <p:nvSpPr>
          <p:cNvPr id="26" name="Shape 24"/>
          <p:cNvSpPr/>
          <p:nvPr/>
        </p:nvSpPr>
        <p:spPr>
          <a:xfrm>
            <a:off x="297180" y="3410712"/>
            <a:ext cx="502920" cy="502920"/>
          </a:xfrm>
          <a:prstGeom prst="ellipse">
            <a:avLst/>
          </a:prstGeom>
          <a:solidFill>
            <a:srgbClr val="55C39E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97180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04</a:t>
            </a:r>
            <a:endParaRPr lang="en-US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77824" y="3392424"/>
            <a:ext cx="6063996" cy="685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877824" y="3392424"/>
            <a:ext cx="54864" cy="685800"/>
          </a:xfrm>
          <a:prstGeom prst="rect">
            <a:avLst/>
          </a:prstGeom>
          <a:solidFill>
            <a:srgbClr val="55C39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1028700" y="2583270"/>
            <a:ext cx="5829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Analyse des Données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14984" y="375818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7A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1300" i="1" dirty="0"/>
          </a:p>
        </p:txBody>
      </p:sp>
      <p:sp>
        <p:nvSpPr>
          <p:cNvPr id="57" name="Shape 5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85723"/>
          </a:solidFill>
          <a:ln/>
        </p:spPr>
        <p:txBody>
          <a:bodyPr/>
          <a:lstStyle/>
          <a:p>
            <a:pPr algn="ctr"/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Sergina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BAKALA – 02/04/2026</a:t>
            </a:r>
          </a:p>
        </p:txBody>
      </p:sp>
      <p:sp>
        <p:nvSpPr>
          <p:cNvPr id="58" name="Text 56"/>
          <p:cNvSpPr/>
          <p:nvPr/>
        </p:nvSpPr>
        <p:spPr>
          <a:xfrm>
            <a:off x="0" y="4846320"/>
            <a:ext cx="8014716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DAFB35A1-13DE-11DE-102E-A234764EA885}"/>
              </a:ext>
            </a:extLst>
          </p:cNvPr>
          <p:cNvSpPr/>
          <p:nvPr/>
        </p:nvSpPr>
        <p:spPr>
          <a:xfrm>
            <a:off x="1014984" y="34427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0" y="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8595360" cy="1363980"/>
          </a:xfrm>
          <a:prstGeom prst="rect">
            <a:avLst/>
          </a:prstGeom>
          <a:solidFill>
            <a:schemeClr val="bg1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11480" y="1078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Objectifs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1564386"/>
            <a:ext cx="8458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700" dirty="0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Produire des indicateurs synthétiques / un outil d’aide à la décision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700" dirty="0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Caractériser les niveaux de contamination et identifier les zones à risque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700" dirty="0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Accompagner les politiques locales</a:t>
            </a:r>
            <a:endParaRPr lang="en-US" sz="1700" dirty="0">
              <a:solidFill>
                <a:srgbClr val="62A5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1">
            <a:extLst>
              <a:ext uri="{FF2B5EF4-FFF2-40B4-BE49-F238E27FC236}">
                <a16:creationId xmlns:a16="http://schemas.microsoft.com/office/drawing/2014/main" id="{EF8A6D92-A268-77D3-9B65-462827EC8488}"/>
              </a:ext>
            </a:extLst>
          </p:cNvPr>
          <p:cNvSpPr/>
          <p:nvPr/>
        </p:nvSpPr>
        <p:spPr>
          <a:xfrm>
            <a:off x="0" y="0"/>
            <a:ext cx="9144000" cy="649224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444272F5-8B35-59A7-0C2B-FB06D6089092}"/>
              </a:ext>
            </a:extLst>
          </p:cNvPr>
          <p:cNvSpPr/>
          <p:nvPr/>
        </p:nvSpPr>
        <p:spPr>
          <a:xfrm>
            <a:off x="365760" y="19202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92BF315E-B103-1476-509A-74B3CECA7E66}"/>
              </a:ext>
            </a:extLst>
          </p:cNvPr>
          <p:cNvSpPr/>
          <p:nvPr/>
        </p:nvSpPr>
        <p:spPr>
          <a:xfrm>
            <a:off x="731520" y="-80962"/>
            <a:ext cx="760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kern="0" spc="4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</a:p>
          <a:p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Contexte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9">
            <a:extLst>
              <a:ext uri="{FF2B5EF4-FFF2-40B4-BE49-F238E27FC236}">
                <a16:creationId xmlns:a16="http://schemas.microsoft.com/office/drawing/2014/main" id="{6C7084F4-66EC-07B7-80E7-D17B631B430B}"/>
              </a:ext>
            </a:extLst>
          </p:cNvPr>
          <p:cNvSpPr/>
          <p:nvPr/>
        </p:nvSpPr>
        <p:spPr>
          <a:xfrm flipH="1">
            <a:off x="0" y="16344"/>
            <a:ext cx="518400" cy="623736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01/04</a:t>
            </a:r>
          </a:p>
        </p:txBody>
      </p:sp>
      <p:sp>
        <p:nvSpPr>
          <p:cNvPr id="49" name="Shape 55">
            <a:extLst>
              <a:ext uri="{FF2B5EF4-FFF2-40B4-BE49-F238E27FC236}">
                <a16:creationId xmlns:a16="http://schemas.microsoft.com/office/drawing/2014/main" id="{ABCECDD5-A6BE-A3F3-1BE3-11B87DBAC7F8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85723"/>
          </a:solidFill>
          <a:ln/>
        </p:spPr>
        <p:txBody>
          <a:bodyPr/>
          <a:lstStyle/>
          <a:p>
            <a:pPr algn="ctr"/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Sergina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BAKALA – 02/04/2026</a:t>
            </a:r>
          </a:p>
        </p:txBody>
      </p:sp>
      <p:sp>
        <p:nvSpPr>
          <p:cNvPr id="50" name="Shape 6">
            <a:extLst>
              <a:ext uri="{FF2B5EF4-FFF2-40B4-BE49-F238E27FC236}">
                <a16:creationId xmlns:a16="http://schemas.microsoft.com/office/drawing/2014/main" id="{4AAC275D-9931-3C3D-54A6-7C086DAE7D15}"/>
              </a:ext>
            </a:extLst>
          </p:cNvPr>
          <p:cNvSpPr/>
          <p:nvPr/>
        </p:nvSpPr>
        <p:spPr>
          <a:xfrm>
            <a:off x="518400" y="2862453"/>
            <a:ext cx="1828800" cy="1371600"/>
          </a:xfrm>
          <a:prstGeom prst="rect">
            <a:avLst/>
          </a:prstGeom>
          <a:solidFill>
            <a:srgbClr val="54823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AD94D862-2A3B-2D88-E0B5-4512DD01C658}"/>
              </a:ext>
            </a:extLst>
          </p:cNvPr>
          <p:cNvSpPr/>
          <p:nvPr/>
        </p:nvSpPr>
        <p:spPr>
          <a:xfrm>
            <a:off x="518400" y="2999613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31 126</a:t>
            </a:r>
            <a:endParaRPr lang="en-US" sz="2400" dirty="0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28D5C7E3-1D71-AB89-1646-7100E2F49CEE}"/>
              </a:ext>
            </a:extLst>
          </p:cNvPr>
          <p:cNvSpPr/>
          <p:nvPr/>
        </p:nvSpPr>
        <p:spPr>
          <a:xfrm>
            <a:off x="502920" y="346176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D5C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Parcelles analysées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hape 9">
            <a:extLst>
              <a:ext uri="{FF2B5EF4-FFF2-40B4-BE49-F238E27FC236}">
                <a16:creationId xmlns:a16="http://schemas.microsoft.com/office/drawing/2014/main" id="{49C2A768-5D21-CAC1-9104-AB840C388272}"/>
              </a:ext>
            </a:extLst>
          </p:cNvPr>
          <p:cNvSpPr/>
          <p:nvPr/>
        </p:nvSpPr>
        <p:spPr>
          <a:xfrm>
            <a:off x="2575800" y="2871407"/>
            <a:ext cx="1828800" cy="1371600"/>
          </a:xfrm>
          <a:prstGeom prst="rect">
            <a:avLst/>
          </a:prstGeom>
          <a:solidFill>
            <a:srgbClr val="54823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4" name="Text 10">
            <a:extLst>
              <a:ext uri="{FF2B5EF4-FFF2-40B4-BE49-F238E27FC236}">
                <a16:creationId xmlns:a16="http://schemas.microsoft.com/office/drawing/2014/main" id="{2710A100-EB1F-F120-15D8-4DE165E875C7}"/>
              </a:ext>
            </a:extLst>
          </p:cNvPr>
          <p:cNvSpPr/>
          <p:nvPr/>
        </p:nvSpPr>
        <p:spPr>
          <a:xfrm>
            <a:off x="2575800" y="2999613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2400" dirty="0"/>
          </a:p>
        </p:txBody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DAD63687-A263-3614-2274-91051B06E775}"/>
              </a:ext>
            </a:extLst>
          </p:cNvPr>
          <p:cNvSpPr/>
          <p:nvPr/>
        </p:nvSpPr>
        <p:spPr>
          <a:xfrm>
            <a:off x="257580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D5C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Communes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Shape 12">
            <a:extLst>
              <a:ext uri="{FF2B5EF4-FFF2-40B4-BE49-F238E27FC236}">
                <a16:creationId xmlns:a16="http://schemas.microsoft.com/office/drawing/2014/main" id="{82E1C35C-8B75-ADC2-D29A-3B9B0296414C}"/>
              </a:ext>
            </a:extLst>
          </p:cNvPr>
          <p:cNvSpPr/>
          <p:nvPr/>
        </p:nvSpPr>
        <p:spPr>
          <a:xfrm>
            <a:off x="4633200" y="2862453"/>
            <a:ext cx="1828800" cy="1371600"/>
          </a:xfrm>
          <a:prstGeom prst="rect">
            <a:avLst/>
          </a:prstGeom>
          <a:solidFill>
            <a:srgbClr val="54823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7" name="Text 13">
            <a:extLst>
              <a:ext uri="{FF2B5EF4-FFF2-40B4-BE49-F238E27FC236}">
                <a16:creationId xmlns:a16="http://schemas.microsoft.com/office/drawing/2014/main" id="{408230A3-28FC-9C8D-BAF1-5E73FF9F23AE}"/>
              </a:ext>
            </a:extLst>
          </p:cNvPr>
          <p:cNvSpPr/>
          <p:nvPr/>
        </p:nvSpPr>
        <p:spPr>
          <a:xfrm>
            <a:off x="4633200" y="2999613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ans</a:t>
            </a:r>
            <a:endParaRPr lang="en-US" sz="2400" dirty="0"/>
          </a:p>
        </p:txBody>
      </p:sp>
      <p:sp>
        <p:nvSpPr>
          <p:cNvPr id="58" name="Text 14">
            <a:extLst>
              <a:ext uri="{FF2B5EF4-FFF2-40B4-BE49-F238E27FC236}">
                <a16:creationId xmlns:a16="http://schemas.microsoft.com/office/drawing/2014/main" id="{A76652EF-DF35-C716-ED0D-A6BBDA1B90AF}"/>
              </a:ext>
            </a:extLst>
          </p:cNvPr>
          <p:cNvSpPr/>
          <p:nvPr/>
        </p:nvSpPr>
        <p:spPr>
          <a:xfrm>
            <a:off x="4633200" y="353434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D5C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 suivi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744B931E-44DB-0348-2808-EC6344F77BA0}"/>
              </a:ext>
            </a:extLst>
          </p:cNvPr>
          <p:cNvSpPr/>
          <p:nvPr/>
        </p:nvSpPr>
        <p:spPr>
          <a:xfrm>
            <a:off x="6690600" y="2862453"/>
            <a:ext cx="1828800" cy="1371600"/>
          </a:xfrm>
          <a:prstGeom prst="rect">
            <a:avLst/>
          </a:prstGeom>
          <a:solidFill>
            <a:srgbClr val="54823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0" name="Text 16">
            <a:extLst>
              <a:ext uri="{FF2B5EF4-FFF2-40B4-BE49-F238E27FC236}">
                <a16:creationId xmlns:a16="http://schemas.microsoft.com/office/drawing/2014/main" id="{59FD7E5D-5FAB-ADE8-A04E-2B3B35A1D557}"/>
              </a:ext>
            </a:extLst>
          </p:cNvPr>
          <p:cNvSpPr/>
          <p:nvPr/>
        </p:nvSpPr>
        <p:spPr>
          <a:xfrm>
            <a:off x="6690600" y="2999613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400" dirty="0"/>
          </a:p>
        </p:txBody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BAE95AA3-EC13-52ED-B34F-139F552209CC}"/>
              </a:ext>
            </a:extLst>
          </p:cNvPr>
          <p:cNvSpPr/>
          <p:nvPr/>
        </p:nvSpPr>
        <p:spPr>
          <a:xfrm>
            <a:off x="6690600" y="3520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D5C2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Variables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2D831-3E16-6ACB-E0CF-A8CD9EA37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4ED3794-80CD-815A-0418-D0694A1FC3C3}"/>
              </a:ext>
            </a:extLst>
          </p:cNvPr>
          <p:cNvSpPr/>
          <p:nvPr/>
        </p:nvSpPr>
        <p:spPr>
          <a:xfrm>
            <a:off x="182880" y="941832"/>
            <a:ext cx="4160520" cy="35661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EAA82D-0087-20CA-C6D0-BC51509986F5}"/>
              </a:ext>
            </a:extLst>
          </p:cNvPr>
          <p:cNvSpPr/>
          <p:nvPr/>
        </p:nvSpPr>
        <p:spPr>
          <a:xfrm>
            <a:off x="0" y="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3" name="Shape 1">
            <a:extLst>
              <a:ext uri="{FF2B5EF4-FFF2-40B4-BE49-F238E27FC236}">
                <a16:creationId xmlns:a16="http://schemas.microsoft.com/office/drawing/2014/main" id="{E01BD611-44D5-4529-680A-BD367ECBA67D}"/>
              </a:ext>
            </a:extLst>
          </p:cNvPr>
          <p:cNvSpPr/>
          <p:nvPr/>
        </p:nvSpPr>
        <p:spPr>
          <a:xfrm>
            <a:off x="0" y="0"/>
            <a:ext cx="9144000" cy="649224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969AB75C-78F2-8B92-B304-CFF4AE828675}"/>
              </a:ext>
            </a:extLst>
          </p:cNvPr>
          <p:cNvSpPr/>
          <p:nvPr/>
        </p:nvSpPr>
        <p:spPr>
          <a:xfrm>
            <a:off x="365760" y="19202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674A4750-2916-6072-3738-9DD1815085E9}"/>
              </a:ext>
            </a:extLst>
          </p:cNvPr>
          <p:cNvSpPr/>
          <p:nvPr/>
        </p:nvSpPr>
        <p:spPr>
          <a:xfrm>
            <a:off x="731520" y="128016"/>
            <a:ext cx="760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kern="0" spc="4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</a:p>
          <a:p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Analyse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préliminaire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9">
            <a:extLst>
              <a:ext uri="{FF2B5EF4-FFF2-40B4-BE49-F238E27FC236}">
                <a16:creationId xmlns:a16="http://schemas.microsoft.com/office/drawing/2014/main" id="{F3581D2A-B1DC-C683-036D-2F26C8D4300E}"/>
              </a:ext>
            </a:extLst>
          </p:cNvPr>
          <p:cNvSpPr/>
          <p:nvPr/>
        </p:nvSpPr>
        <p:spPr>
          <a:xfrm flipH="1">
            <a:off x="0" y="16344"/>
            <a:ext cx="518400" cy="623736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01/04</a:t>
            </a:r>
          </a:p>
        </p:txBody>
      </p:sp>
      <p:sp>
        <p:nvSpPr>
          <p:cNvPr id="49" name="Shape 55">
            <a:extLst>
              <a:ext uri="{FF2B5EF4-FFF2-40B4-BE49-F238E27FC236}">
                <a16:creationId xmlns:a16="http://schemas.microsoft.com/office/drawing/2014/main" id="{C6EDED28-AE7C-8BF8-84AC-BB61ABB603A9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85723"/>
          </a:solidFill>
          <a:ln/>
        </p:spPr>
        <p:txBody>
          <a:bodyPr/>
          <a:lstStyle/>
          <a:p>
            <a:pPr algn="ctr"/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Sergina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BAKALA – 02/04/2026</a:t>
            </a:r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B7DDA180-7377-BDC1-252B-58CEFB9B4B0D}"/>
              </a:ext>
            </a:extLst>
          </p:cNvPr>
          <p:cNvSpPr/>
          <p:nvPr/>
        </p:nvSpPr>
        <p:spPr>
          <a:xfrm>
            <a:off x="365760" y="9052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4A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Conversions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15E0BE1D-A4BF-555A-6CD6-57F70975C033}"/>
              </a:ext>
            </a:extLst>
          </p:cNvPr>
          <p:cNvSpPr/>
          <p:nvPr/>
        </p:nvSpPr>
        <p:spPr>
          <a:xfrm>
            <a:off x="365760" y="1325880"/>
            <a:ext cx="731520" cy="68580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E45DC8BF-1ACB-4648-C3E2-0D855205316D}"/>
              </a:ext>
            </a:extLst>
          </p:cNvPr>
          <p:cNvSpPr/>
          <p:nvPr/>
        </p:nvSpPr>
        <p:spPr>
          <a:xfrm>
            <a:off x="365760" y="13258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DATE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2309F76D-720D-940A-0740-554DCF7250DE}"/>
              </a:ext>
            </a:extLst>
          </p:cNvPr>
          <p:cNvSpPr/>
          <p:nvPr/>
        </p:nvSpPr>
        <p:spPr>
          <a:xfrm>
            <a:off x="1188720" y="1371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Date_prelevement</a:t>
            </a:r>
            <a:endParaRPr lang="en-US" sz="1400" dirty="0">
              <a:solidFill>
                <a:srgbClr val="62A5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Date_enregistrement</a:t>
            </a:r>
            <a:endParaRPr lang="en-US" sz="1400" dirty="0">
              <a:solidFill>
                <a:srgbClr val="62A5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400" dirty="0" err="1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Date_analyse</a:t>
            </a:r>
            <a:endParaRPr lang="en-US" sz="1400" dirty="0">
              <a:solidFill>
                <a:srgbClr val="62A5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D4AFFAEA-C359-0D46-65A6-2296322CDF14}"/>
              </a:ext>
            </a:extLst>
          </p:cNvPr>
          <p:cNvSpPr/>
          <p:nvPr/>
        </p:nvSpPr>
        <p:spPr>
          <a:xfrm>
            <a:off x="365760" y="2331720"/>
            <a:ext cx="731520" cy="68580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61DEB20F-AD23-26CE-B5AD-0EA259F84C02}"/>
              </a:ext>
            </a:extLst>
          </p:cNvPr>
          <p:cNvSpPr/>
          <p:nvPr/>
        </p:nvSpPr>
        <p:spPr>
          <a:xfrm>
            <a:off x="365760" y="23317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FLOAT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6939FF43-CEEC-3E12-296D-224BB4EFC8E1}"/>
              </a:ext>
            </a:extLst>
          </p:cNvPr>
          <p:cNvSpPr/>
          <p:nvPr/>
        </p:nvSpPr>
        <p:spPr>
          <a:xfrm>
            <a:off x="1188720" y="2377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Taux_Chlordecone, Taux_5b_hydro</a:t>
            </a:r>
          </a:p>
          <a:p>
            <a:r>
              <a:rPr lang="en-US" sz="1400" dirty="0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mnt_tpi_mean, </a:t>
            </a:r>
            <a:r>
              <a:rPr lang="en-US" sz="1400" dirty="0" err="1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mnt_tri_mean</a:t>
            </a:r>
            <a:endParaRPr lang="en-US" sz="1400" dirty="0">
              <a:solidFill>
                <a:srgbClr val="62A5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mnt_rugosite, ombrage, X, Y</a:t>
            </a: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9CA3701B-F2F5-38CF-D609-E9E7E89EE7AA}"/>
              </a:ext>
            </a:extLst>
          </p:cNvPr>
          <p:cNvSpPr/>
          <p:nvPr/>
        </p:nvSpPr>
        <p:spPr>
          <a:xfrm>
            <a:off x="365760" y="3337560"/>
            <a:ext cx="731520" cy="685800"/>
          </a:xfrm>
          <a:prstGeom prst="rect">
            <a:avLst/>
          </a:prstGeom>
          <a:solidFill>
            <a:srgbClr val="54823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6D2FF9C1-29DE-47EC-D19F-79D718724182}"/>
              </a:ext>
            </a:extLst>
          </p:cNvPr>
          <p:cNvSpPr/>
          <p:nvPr/>
        </p:nvSpPr>
        <p:spPr>
          <a:xfrm>
            <a:off x="365760" y="33375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STR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87E5AAB9-1FE1-F27C-845D-856794AC282D}"/>
              </a:ext>
            </a:extLst>
          </p:cNvPr>
          <p:cNvSpPr/>
          <p:nvPr/>
        </p:nvSpPr>
        <p:spPr>
          <a:xfrm>
            <a:off x="1188720" y="33832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RAIN, COMMU_LAB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type_sol</a:t>
            </a:r>
            <a:endParaRPr lang="en-US" sz="1400" dirty="0">
              <a:solidFill>
                <a:srgbClr val="62A5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36990002-973E-B11F-F6E1-88F6733C315E}"/>
              </a:ext>
            </a:extLst>
          </p:cNvPr>
          <p:cNvSpPr/>
          <p:nvPr/>
        </p:nvSpPr>
        <p:spPr>
          <a:xfrm>
            <a:off x="5570222" y="2674620"/>
            <a:ext cx="22402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500" dirty="0">
                <a:solidFill>
                  <a:srgbClr val="7A90A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8 </a:t>
            </a:r>
            <a:r>
              <a:rPr lang="en-US" sz="2500" dirty="0" err="1">
                <a:solidFill>
                  <a:srgbClr val="7A90A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doublons</a:t>
            </a:r>
            <a:r>
              <a:rPr lang="en-US" sz="2500" dirty="0">
                <a:solidFill>
                  <a:srgbClr val="7A90A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500" dirty="0" err="1">
                <a:solidFill>
                  <a:srgbClr val="7A90A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stricts</a:t>
            </a:r>
            <a:r>
              <a:rPr lang="en-US" sz="2500" dirty="0">
                <a:solidFill>
                  <a:srgbClr val="7A90A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500" dirty="0" err="1">
                <a:solidFill>
                  <a:srgbClr val="7A90A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détectés</a:t>
            </a:r>
            <a:r>
              <a:rPr lang="en-US" sz="2500" dirty="0">
                <a:solidFill>
                  <a:srgbClr val="7A90A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et </a:t>
            </a:r>
            <a:r>
              <a:rPr lang="en-US" sz="2500" dirty="0" err="1">
                <a:solidFill>
                  <a:srgbClr val="7A90A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supprimés</a:t>
            </a:r>
            <a:r>
              <a:rPr lang="en-US" sz="2500" dirty="0">
                <a:solidFill>
                  <a:srgbClr val="7A90A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endParaRPr lang="en-US" sz="2500" dirty="0">
              <a:solidFill>
                <a:srgbClr val="7A90A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Attention - Icônes panneaux gratuites">
            <a:extLst>
              <a:ext uri="{FF2B5EF4-FFF2-40B4-BE49-F238E27FC236}">
                <a16:creationId xmlns:a16="http://schemas.microsoft.com/office/drawing/2014/main" id="{1C35CFE3-540F-8EB7-3D51-A50EDF18B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4591" y="1161288"/>
            <a:ext cx="891540" cy="891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618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55">
            <a:extLst>
              <a:ext uri="{FF2B5EF4-FFF2-40B4-BE49-F238E27FC236}">
                <a16:creationId xmlns:a16="http://schemas.microsoft.com/office/drawing/2014/main" id="{7B1CE075-0BAF-2C3D-6C24-B56F48D41E05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85723"/>
          </a:solidFill>
          <a:ln/>
        </p:spPr>
        <p:txBody>
          <a:bodyPr/>
          <a:lstStyle/>
          <a:p>
            <a:pPr algn="ctr"/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Sergina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BAKALA – 02/04/2026</a:t>
            </a:r>
          </a:p>
        </p:txBody>
      </p:sp>
      <p:sp>
        <p:nvSpPr>
          <p:cNvPr id="47" name="Shape 1">
            <a:extLst>
              <a:ext uri="{FF2B5EF4-FFF2-40B4-BE49-F238E27FC236}">
                <a16:creationId xmlns:a16="http://schemas.microsoft.com/office/drawing/2014/main" id="{CCB24A21-7D8A-7BB0-B48F-05D18EF539A4}"/>
              </a:ext>
            </a:extLst>
          </p:cNvPr>
          <p:cNvSpPr/>
          <p:nvPr/>
        </p:nvSpPr>
        <p:spPr>
          <a:xfrm>
            <a:off x="0" y="0"/>
            <a:ext cx="9144000" cy="649224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8" name="Text 3">
            <a:extLst>
              <a:ext uri="{FF2B5EF4-FFF2-40B4-BE49-F238E27FC236}">
                <a16:creationId xmlns:a16="http://schemas.microsoft.com/office/drawing/2014/main" id="{01EA7117-5EA5-CA2C-C59F-95D357AB8D3C}"/>
              </a:ext>
            </a:extLst>
          </p:cNvPr>
          <p:cNvSpPr/>
          <p:nvPr/>
        </p:nvSpPr>
        <p:spPr>
          <a:xfrm>
            <a:off x="731520" y="128016"/>
            <a:ext cx="760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kern="0" spc="4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</a:p>
          <a:p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Analyse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exploratoire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hape 9">
            <a:extLst>
              <a:ext uri="{FF2B5EF4-FFF2-40B4-BE49-F238E27FC236}">
                <a16:creationId xmlns:a16="http://schemas.microsoft.com/office/drawing/2014/main" id="{41EA4561-0D35-0F28-94BB-FC931A6BCE08}"/>
              </a:ext>
            </a:extLst>
          </p:cNvPr>
          <p:cNvSpPr/>
          <p:nvPr/>
        </p:nvSpPr>
        <p:spPr>
          <a:xfrm flipH="1">
            <a:off x="0" y="0"/>
            <a:ext cx="518400" cy="640080"/>
          </a:xfrm>
          <a:prstGeom prst="rect">
            <a:avLst/>
          </a:prstGeom>
          <a:solidFill>
            <a:srgbClr val="3DAD40"/>
          </a:solidFill>
          <a:ln/>
        </p:spPr>
        <p:txBody>
          <a:bodyPr/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02/04</a:t>
            </a:r>
          </a:p>
        </p:txBody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C6F953FF-58CE-0245-D6F7-8C97999D8253}"/>
              </a:ext>
            </a:extLst>
          </p:cNvPr>
          <p:cNvSpPr/>
          <p:nvPr/>
        </p:nvSpPr>
        <p:spPr>
          <a:xfrm>
            <a:off x="365760" y="1051560"/>
            <a:ext cx="2697480" cy="502920"/>
          </a:xfrm>
          <a:prstGeom prst="rect">
            <a:avLst/>
          </a:prstGeom>
          <a:solidFill>
            <a:srgbClr val="3DAD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4">
            <a:extLst>
              <a:ext uri="{FF2B5EF4-FFF2-40B4-BE49-F238E27FC236}">
                <a16:creationId xmlns:a16="http://schemas.microsoft.com/office/drawing/2014/main" id="{69371828-2259-1F53-9604-EA92823FBE1C}"/>
              </a:ext>
            </a:extLst>
          </p:cNvPr>
          <p:cNvSpPr/>
          <p:nvPr/>
        </p:nvSpPr>
        <p:spPr>
          <a:xfrm>
            <a:off x="457200" y="10789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Valeurs </a:t>
            </a:r>
            <a:r>
              <a:rPr lang="en-US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manquantes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14C2477E-25D9-BA1A-C859-2781EFD94617}"/>
              </a:ext>
            </a:extLst>
          </p:cNvPr>
          <p:cNvSpPr/>
          <p:nvPr/>
        </p:nvSpPr>
        <p:spPr>
          <a:xfrm>
            <a:off x="365760" y="1563624"/>
            <a:ext cx="2697480" cy="28346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Sol_simple : 74 </a:t>
            </a:r>
            <a:r>
              <a:rPr lang="en-US" sz="1600" dirty="0" err="1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valeurs</a:t>
            </a:r>
            <a:endParaRPr lang="en-US" sz="1600" dirty="0">
              <a:solidFill>
                <a:srgbClr val="62A5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Date_analyse : 2 702 </a:t>
            </a:r>
            <a:r>
              <a:rPr lang="en-US" sz="1600" dirty="0" err="1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valeurs</a:t>
            </a:r>
            <a:endParaRPr lang="en-US" sz="1600" dirty="0">
              <a:solidFill>
                <a:srgbClr val="62A5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Taux_5b_hydro : 23 </a:t>
            </a:r>
            <a:r>
              <a:rPr lang="en-US" sz="1600" dirty="0" err="1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valeurs</a:t>
            </a:r>
            <a:endParaRPr lang="en-US" sz="1600" dirty="0">
              <a:solidFill>
                <a:srgbClr val="62A5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histoBanane : 17 983 </a:t>
            </a:r>
            <a:r>
              <a:rPr lang="en-US" sz="1600" dirty="0" err="1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valeurs</a:t>
            </a:r>
            <a:endParaRPr lang="en-US" sz="1600" dirty="0">
              <a:solidFill>
                <a:srgbClr val="62A5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 mnt_ : 28 </a:t>
            </a:r>
            <a:r>
              <a:rPr lang="en-US" sz="1600" dirty="0" err="1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valeurs</a:t>
            </a:r>
            <a:endParaRPr lang="en-US" sz="1600" dirty="0">
              <a:solidFill>
                <a:srgbClr val="62A5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7">
            <a:extLst>
              <a:ext uri="{FF2B5EF4-FFF2-40B4-BE49-F238E27FC236}">
                <a16:creationId xmlns:a16="http://schemas.microsoft.com/office/drawing/2014/main" id="{5A8C22BA-1C8E-084D-6EA2-2CAE1AF370F0}"/>
              </a:ext>
            </a:extLst>
          </p:cNvPr>
          <p:cNvSpPr/>
          <p:nvPr/>
        </p:nvSpPr>
        <p:spPr>
          <a:xfrm>
            <a:off x="3383280" y="1051560"/>
            <a:ext cx="2537460" cy="502920"/>
          </a:xfrm>
          <a:prstGeom prst="rect">
            <a:avLst/>
          </a:prstGeom>
          <a:solidFill>
            <a:srgbClr val="3DAD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8">
            <a:extLst>
              <a:ext uri="{FF2B5EF4-FFF2-40B4-BE49-F238E27FC236}">
                <a16:creationId xmlns:a16="http://schemas.microsoft.com/office/drawing/2014/main" id="{18927936-D0C0-D415-6E39-944A6726CCE2}"/>
              </a:ext>
            </a:extLst>
          </p:cNvPr>
          <p:cNvSpPr/>
          <p:nvPr/>
        </p:nvSpPr>
        <p:spPr>
          <a:xfrm>
            <a:off x="3383280" y="10789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Incohérences</a:t>
            </a: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métier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9">
            <a:extLst>
              <a:ext uri="{FF2B5EF4-FFF2-40B4-BE49-F238E27FC236}">
                <a16:creationId xmlns:a16="http://schemas.microsoft.com/office/drawing/2014/main" id="{2153E5E4-0A0D-2D1A-4588-95ED620AA435}"/>
              </a:ext>
            </a:extLst>
          </p:cNvPr>
          <p:cNvSpPr/>
          <p:nvPr/>
        </p:nvSpPr>
        <p:spPr>
          <a:xfrm>
            <a:off x="3406140" y="1563624"/>
            <a:ext cx="2514600" cy="2816352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3 886 analyses </a:t>
            </a:r>
            <a:r>
              <a:rPr lang="en-US" sz="1600" dirty="0" err="1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avant</a:t>
            </a:r>
            <a:r>
              <a:rPr lang="en-US" sz="1600" dirty="0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enregistrement</a:t>
            </a:r>
            <a:endParaRPr lang="en-US" sz="1600" dirty="0">
              <a:solidFill>
                <a:srgbClr val="62A5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 communes (Martinique = 34)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Présence de « Hors Martinique »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298 lignes sans commune </a:t>
            </a:r>
            <a:r>
              <a:rPr lang="en-US" sz="1600" dirty="0" err="1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renseignée</a:t>
            </a:r>
            <a:endParaRPr lang="en-US" sz="1600" dirty="0">
              <a:solidFill>
                <a:srgbClr val="62A5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11">
            <a:extLst>
              <a:ext uri="{FF2B5EF4-FFF2-40B4-BE49-F238E27FC236}">
                <a16:creationId xmlns:a16="http://schemas.microsoft.com/office/drawing/2014/main" id="{6CF8C451-9456-84AB-2EF8-2440CEC21EF1}"/>
              </a:ext>
            </a:extLst>
          </p:cNvPr>
          <p:cNvSpPr/>
          <p:nvPr/>
        </p:nvSpPr>
        <p:spPr>
          <a:xfrm>
            <a:off x="6217920" y="1051560"/>
            <a:ext cx="2697480" cy="502920"/>
          </a:xfrm>
          <a:prstGeom prst="rect">
            <a:avLst/>
          </a:prstGeom>
          <a:solidFill>
            <a:srgbClr val="3DAD4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12">
            <a:extLst>
              <a:ext uri="{FF2B5EF4-FFF2-40B4-BE49-F238E27FC236}">
                <a16:creationId xmlns:a16="http://schemas.microsoft.com/office/drawing/2014/main" id="{6199A1B6-9D0E-4415-742F-3D40ECCF4CDD}"/>
              </a:ext>
            </a:extLst>
          </p:cNvPr>
          <p:cNvSpPr/>
          <p:nvPr/>
        </p:nvSpPr>
        <p:spPr>
          <a:xfrm>
            <a:off x="6309360" y="10789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Points d'attention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 13">
            <a:extLst>
              <a:ext uri="{FF2B5EF4-FFF2-40B4-BE49-F238E27FC236}">
                <a16:creationId xmlns:a16="http://schemas.microsoft.com/office/drawing/2014/main" id="{C1CCC2D7-79F2-A9F6-177E-D675B20EF961}"/>
              </a:ext>
            </a:extLst>
          </p:cNvPr>
          <p:cNvSpPr/>
          <p:nvPr/>
        </p:nvSpPr>
        <p:spPr>
          <a:xfrm>
            <a:off x="6240780" y="1536192"/>
            <a:ext cx="2781300" cy="28346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 No data » dans </a:t>
            </a:r>
            <a:r>
              <a:rPr lang="en-US" sz="1600" dirty="0" err="1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Sol_simple</a:t>
            </a:r>
            <a:endParaRPr lang="en-US" sz="1600" dirty="0">
              <a:solidFill>
                <a:srgbClr val="62A5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62A53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Taux_5b_hydro contient 586 inf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5">
            <a:extLst>
              <a:ext uri="{FF2B5EF4-FFF2-40B4-BE49-F238E27FC236}">
                <a16:creationId xmlns:a16="http://schemas.microsoft.com/office/drawing/2014/main" id="{EB5B07CC-7C66-5D72-13AB-65F40CF8E108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85723"/>
          </a:solidFill>
          <a:ln/>
        </p:spPr>
        <p:txBody>
          <a:bodyPr/>
          <a:lstStyle/>
          <a:p>
            <a:pPr algn="ctr"/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Sergina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BAKALA – 02/04/2026</a:t>
            </a:r>
          </a:p>
        </p:txBody>
      </p:sp>
      <p:sp>
        <p:nvSpPr>
          <p:cNvPr id="51" name="Shape 1">
            <a:extLst>
              <a:ext uri="{FF2B5EF4-FFF2-40B4-BE49-F238E27FC236}">
                <a16:creationId xmlns:a16="http://schemas.microsoft.com/office/drawing/2014/main" id="{6529F38C-57CE-F6C6-5CF7-9402C7C16197}"/>
              </a:ext>
            </a:extLst>
          </p:cNvPr>
          <p:cNvSpPr/>
          <p:nvPr/>
        </p:nvSpPr>
        <p:spPr>
          <a:xfrm>
            <a:off x="0" y="0"/>
            <a:ext cx="9144000" cy="649224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52" name="Shape 9">
            <a:extLst>
              <a:ext uri="{FF2B5EF4-FFF2-40B4-BE49-F238E27FC236}">
                <a16:creationId xmlns:a16="http://schemas.microsoft.com/office/drawing/2014/main" id="{4691EC7B-A391-0917-F739-1B4F1BC94BD1}"/>
              </a:ext>
            </a:extLst>
          </p:cNvPr>
          <p:cNvSpPr/>
          <p:nvPr/>
        </p:nvSpPr>
        <p:spPr>
          <a:xfrm flipH="1">
            <a:off x="0" y="0"/>
            <a:ext cx="518400" cy="640080"/>
          </a:xfrm>
          <a:prstGeom prst="rect">
            <a:avLst/>
          </a:prstGeom>
          <a:solidFill>
            <a:srgbClr val="3DAD40"/>
          </a:solidFill>
          <a:ln/>
        </p:spPr>
        <p:txBody>
          <a:bodyPr/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02/04</a:t>
            </a: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E5420D32-205C-EB2C-366A-21BB45A056CF}"/>
              </a:ext>
            </a:extLst>
          </p:cNvPr>
          <p:cNvSpPr/>
          <p:nvPr/>
        </p:nvSpPr>
        <p:spPr>
          <a:xfrm>
            <a:off x="731520" y="128016"/>
            <a:ext cx="760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kern="0" spc="4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</a:p>
          <a:p>
            <a:r>
              <a:rPr lang="en-US" sz="2800" b="1" dirty="0" err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Préparation</a:t>
            </a: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des données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721530FE-07D6-A5A1-A0A5-CB3A7ECEAB32}"/>
              </a:ext>
            </a:extLst>
          </p:cNvPr>
          <p:cNvSpPr txBox="1"/>
          <p:nvPr/>
        </p:nvSpPr>
        <p:spPr>
          <a:xfrm>
            <a:off x="2922330" y="1122256"/>
            <a:ext cx="144393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>
                <a:solidFill>
                  <a:srgbClr val="3857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Communes</a:t>
            </a:r>
          </a:p>
        </p:txBody>
      </p: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A83C2163-49C8-A782-B8EB-21025BC043C7}"/>
              </a:ext>
            </a:extLst>
          </p:cNvPr>
          <p:cNvCxnSpPr/>
          <p:nvPr/>
        </p:nvCxnSpPr>
        <p:spPr>
          <a:xfrm flipV="1">
            <a:off x="1935480" y="1234440"/>
            <a:ext cx="838200" cy="531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F272C963-1A30-414D-DECA-646F6103881D}"/>
              </a:ext>
            </a:extLst>
          </p:cNvPr>
          <p:cNvCxnSpPr>
            <a:cxnSpLocks/>
          </p:cNvCxnSpPr>
          <p:nvPr/>
        </p:nvCxnSpPr>
        <p:spPr>
          <a:xfrm>
            <a:off x="1988820" y="2345436"/>
            <a:ext cx="10363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BD31A824-0653-D012-F051-7E91E75F9A96}"/>
              </a:ext>
            </a:extLst>
          </p:cNvPr>
          <p:cNvCxnSpPr>
            <a:cxnSpLocks/>
          </p:cNvCxnSpPr>
          <p:nvPr/>
        </p:nvCxnSpPr>
        <p:spPr>
          <a:xfrm>
            <a:off x="1889760" y="3057644"/>
            <a:ext cx="1036320" cy="321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ZoneTexte 63">
            <a:extLst>
              <a:ext uri="{FF2B5EF4-FFF2-40B4-BE49-F238E27FC236}">
                <a16:creationId xmlns:a16="http://schemas.microsoft.com/office/drawing/2014/main" id="{693A326C-B80B-C3FB-6648-58E95BE752DF}"/>
              </a:ext>
            </a:extLst>
          </p:cNvPr>
          <p:cNvSpPr txBox="1"/>
          <p:nvPr/>
        </p:nvSpPr>
        <p:spPr>
          <a:xfrm>
            <a:off x="0" y="1901880"/>
            <a:ext cx="21793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3857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Imputation KNN</a:t>
            </a:r>
          </a:p>
          <a:p>
            <a:r>
              <a:rPr lang="fr-FR" b="1" dirty="0">
                <a:solidFill>
                  <a:srgbClr val="3857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(utilisation des coordonnées géographiques )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FFB5F276-4671-2142-551B-C35B416202C7}"/>
              </a:ext>
            </a:extLst>
          </p:cNvPr>
          <p:cNvSpPr txBox="1"/>
          <p:nvPr/>
        </p:nvSpPr>
        <p:spPr>
          <a:xfrm>
            <a:off x="3099464" y="2144968"/>
            <a:ext cx="269173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>
                <a:solidFill>
                  <a:srgbClr val="3857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Sols simple (+ communes )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7BC2996A-73D8-D7F8-7F6F-B007EAD86296}"/>
              </a:ext>
            </a:extLst>
          </p:cNvPr>
          <p:cNvSpPr txBox="1"/>
          <p:nvPr/>
        </p:nvSpPr>
        <p:spPr>
          <a:xfrm>
            <a:off x="3009900" y="3102209"/>
            <a:ext cx="25335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>
                <a:solidFill>
                  <a:srgbClr val="3857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sols (+ communes, sols simples )</a:t>
            </a:r>
          </a:p>
        </p:txBody>
      </p:sp>
      <p:sp>
        <p:nvSpPr>
          <p:cNvPr id="67" name="Text 25">
            <a:extLst>
              <a:ext uri="{FF2B5EF4-FFF2-40B4-BE49-F238E27FC236}">
                <a16:creationId xmlns:a16="http://schemas.microsoft.com/office/drawing/2014/main" id="{C394BD85-6053-B1A4-28E8-89C476AEC545}"/>
              </a:ext>
            </a:extLst>
          </p:cNvPr>
          <p:cNvSpPr/>
          <p:nvPr/>
        </p:nvSpPr>
        <p:spPr>
          <a:xfrm>
            <a:off x="1301085" y="4393510"/>
            <a:ext cx="5951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57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 mnt_ (Moyenne) </a:t>
            </a:r>
            <a:r>
              <a:rPr lang="en-US" sz="1500" b="1" dirty="0" err="1">
                <a:solidFill>
                  <a:srgbClr val="3857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imputées</a:t>
            </a:r>
            <a:r>
              <a:rPr lang="en-US" sz="1500" b="1" dirty="0">
                <a:solidFill>
                  <a:srgbClr val="3857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 la </a:t>
            </a:r>
            <a:r>
              <a:rPr lang="en-US" sz="1500" b="1" dirty="0" err="1">
                <a:solidFill>
                  <a:srgbClr val="3857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moyenne</a:t>
            </a:r>
            <a:endParaRPr lang="en-US" sz="1500" b="1" dirty="0">
              <a:solidFill>
                <a:srgbClr val="3857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Text 35">
            <a:extLst>
              <a:ext uri="{FF2B5EF4-FFF2-40B4-BE49-F238E27FC236}">
                <a16:creationId xmlns:a16="http://schemas.microsoft.com/office/drawing/2014/main" id="{E7E2F05D-A946-3710-4CF2-8125A5E973BA}"/>
              </a:ext>
            </a:extLst>
          </p:cNvPr>
          <p:cNvSpPr/>
          <p:nvPr/>
        </p:nvSpPr>
        <p:spPr>
          <a:xfrm>
            <a:off x="1215390" y="3999532"/>
            <a:ext cx="56464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57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Taux_Chlordecone (</a:t>
            </a:r>
            <a:r>
              <a:rPr lang="en-US" sz="1500" b="1" dirty="0" err="1">
                <a:solidFill>
                  <a:srgbClr val="3857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Seuil</a:t>
            </a:r>
            <a:r>
              <a:rPr lang="en-US" sz="1500" b="1" dirty="0">
                <a:solidFill>
                  <a:srgbClr val="3857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10) </a:t>
            </a:r>
            <a:r>
              <a:rPr lang="en-US" sz="1500" b="1" dirty="0" err="1">
                <a:solidFill>
                  <a:srgbClr val="3857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imputée</a:t>
            </a:r>
            <a:r>
              <a:rPr lang="en-US" sz="1500" b="1" dirty="0">
                <a:solidFill>
                  <a:srgbClr val="3857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 la </a:t>
            </a:r>
            <a:r>
              <a:rPr lang="en-US" sz="1500" b="1" dirty="0" err="1">
                <a:solidFill>
                  <a:srgbClr val="3857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médiane</a:t>
            </a:r>
            <a:endParaRPr lang="en-US" sz="1500" b="1" dirty="0">
              <a:solidFill>
                <a:srgbClr val="3857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274320" y="1005840"/>
            <a:ext cx="1645920" cy="1645920"/>
          </a:xfrm>
          <a:prstGeom prst="ellipse">
            <a:avLst/>
          </a:prstGeom>
          <a:solidFill>
            <a:srgbClr val="3DAD40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508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C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3200" dirty="0"/>
          </a:p>
        </p:txBody>
      </p:sp>
      <p:sp>
        <p:nvSpPr>
          <p:cNvPr id="40" name="Shape 5">
            <a:extLst>
              <a:ext uri="{FF2B5EF4-FFF2-40B4-BE49-F238E27FC236}">
                <a16:creationId xmlns:a16="http://schemas.microsoft.com/office/drawing/2014/main" id="{5E40330B-BD89-ED31-6E43-E94F4FD0BD44}"/>
              </a:ext>
            </a:extLst>
          </p:cNvPr>
          <p:cNvSpPr/>
          <p:nvPr/>
        </p:nvSpPr>
        <p:spPr>
          <a:xfrm>
            <a:off x="2560320" y="1188720"/>
            <a:ext cx="6217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5C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41" name="Shape 7">
            <a:extLst>
              <a:ext uri="{FF2B5EF4-FFF2-40B4-BE49-F238E27FC236}">
                <a16:creationId xmlns:a16="http://schemas.microsoft.com/office/drawing/2014/main" id="{7D2B34B5-F8A1-0E5F-1AD5-E274A1A8EDA7}"/>
              </a:ext>
            </a:extLst>
          </p:cNvPr>
          <p:cNvSpPr/>
          <p:nvPr/>
        </p:nvSpPr>
        <p:spPr>
          <a:xfrm>
            <a:off x="2697480" y="1508760"/>
            <a:ext cx="1188720" cy="201168"/>
          </a:xfrm>
          <a:prstGeom prst="rect">
            <a:avLst/>
          </a:prstGeom>
          <a:solidFill>
            <a:srgbClr val="14735A"/>
          </a:solidFill>
          <a:ln/>
        </p:spPr>
        <p:txBody>
          <a:bodyPr/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31 %</a:t>
            </a:r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8361CBF1-99C9-EB43-3AA1-16C3741B9421}"/>
              </a:ext>
            </a:extLst>
          </p:cNvPr>
          <p:cNvSpPr/>
          <p:nvPr/>
        </p:nvSpPr>
        <p:spPr>
          <a:xfrm>
            <a:off x="3977640" y="15087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F1 — Pente / Rugosité / Relief</a:t>
            </a:r>
            <a:endParaRPr lang="en-US" sz="1600" dirty="0">
              <a:solidFill>
                <a:srgbClr val="3857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BBA98C03-59A7-98BB-A99E-CE14F6535D82}"/>
              </a:ext>
            </a:extLst>
          </p:cNvPr>
          <p:cNvSpPr/>
          <p:nvPr/>
        </p:nvSpPr>
        <p:spPr>
          <a:xfrm>
            <a:off x="2697480" y="1764792"/>
            <a:ext cx="1188720" cy="201168"/>
          </a:xfrm>
          <a:prstGeom prst="rect">
            <a:avLst/>
          </a:prstGeom>
          <a:solidFill>
            <a:srgbClr val="1D9970"/>
          </a:solidFill>
          <a:ln/>
        </p:spPr>
        <p:txBody>
          <a:bodyPr/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21 %</a:t>
            </a:r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A8E33431-940B-17C6-C2C1-8A5B7C94FFEC}"/>
              </a:ext>
            </a:extLst>
          </p:cNvPr>
          <p:cNvSpPr/>
          <p:nvPr/>
        </p:nvSpPr>
        <p:spPr>
          <a:xfrm>
            <a:off x="3977640" y="17647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F2 — Chlordécone &amp; Taux 5b hydro</a:t>
            </a:r>
            <a:endParaRPr lang="en-US" sz="1600" dirty="0">
              <a:solidFill>
                <a:srgbClr val="3857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80176F82-E8F7-2EA6-282D-B0653E533F3D}"/>
              </a:ext>
            </a:extLst>
          </p:cNvPr>
          <p:cNvSpPr/>
          <p:nvPr/>
        </p:nvSpPr>
        <p:spPr>
          <a:xfrm>
            <a:off x="2697480" y="2020824"/>
            <a:ext cx="1188720" cy="201168"/>
          </a:xfrm>
          <a:prstGeom prst="rect">
            <a:avLst/>
          </a:prstGeom>
          <a:solidFill>
            <a:srgbClr val="5D7A6E"/>
          </a:solidFill>
          <a:ln/>
        </p:spPr>
        <p:txBody>
          <a:bodyPr/>
          <a:lstStyle/>
          <a:p>
            <a:pPr algn="ctr"/>
            <a:r>
              <a:rPr lang="fr-FR" sz="1400" dirty="0">
                <a:solidFill>
                  <a:schemeClr val="bg1"/>
                </a:solidFill>
              </a:rPr>
              <a:t>18%</a:t>
            </a:r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6F624DFE-762A-1A72-950E-DA93BC574855}"/>
              </a:ext>
            </a:extLst>
          </p:cNvPr>
          <p:cNvSpPr/>
          <p:nvPr/>
        </p:nvSpPr>
        <p:spPr>
          <a:xfrm>
            <a:off x="3977640" y="202082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F3 — Ombrage &amp; Exposition</a:t>
            </a:r>
            <a:endParaRPr lang="en-US" sz="1600" dirty="0">
              <a:solidFill>
                <a:srgbClr val="3857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55">
            <a:extLst>
              <a:ext uri="{FF2B5EF4-FFF2-40B4-BE49-F238E27FC236}">
                <a16:creationId xmlns:a16="http://schemas.microsoft.com/office/drawing/2014/main" id="{E74AA180-4D1E-2F35-50FD-8E5A130A04B3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85723"/>
          </a:solidFill>
          <a:ln/>
        </p:spPr>
        <p:txBody>
          <a:bodyPr/>
          <a:lstStyle/>
          <a:p>
            <a:pPr algn="ctr"/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Sergina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BAKALA – 02/04/2026</a:t>
            </a:r>
          </a:p>
        </p:txBody>
      </p:sp>
      <p:sp>
        <p:nvSpPr>
          <p:cNvPr id="48" name="Shape 1">
            <a:extLst>
              <a:ext uri="{FF2B5EF4-FFF2-40B4-BE49-F238E27FC236}">
                <a16:creationId xmlns:a16="http://schemas.microsoft.com/office/drawing/2014/main" id="{43A1E764-43D9-A960-97EE-E46E3D123675}"/>
              </a:ext>
            </a:extLst>
          </p:cNvPr>
          <p:cNvSpPr/>
          <p:nvPr/>
        </p:nvSpPr>
        <p:spPr>
          <a:xfrm>
            <a:off x="0" y="0"/>
            <a:ext cx="9144000" cy="649224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9" name="Shape 9">
            <a:extLst>
              <a:ext uri="{FF2B5EF4-FFF2-40B4-BE49-F238E27FC236}">
                <a16:creationId xmlns:a16="http://schemas.microsoft.com/office/drawing/2014/main" id="{7E6865C9-01F7-DF14-CFA4-94AB6B314E5B}"/>
              </a:ext>
            </a:extLst>
          </p:cNvPr>
          <p:cNvSpPr/>
          <p:nvPr/>
        </p:nvSpPr>
        <p:spPr>
          <a:xfrm flipH="1">
            <a:off x="0" y="0"/>
            <a:ext cx="518400" cy="640080"/>
          </a:xfrm>
          <a:prstGeom prst="rect">
            <a:avLst/>
          </a:prstGeom>
          <a:solidFill>
            <a:srgbClr val="96C058"/>
          </a:solidFill>
          <a:ln/>
        </p:spPr>
        <p:txBody>
          <a:bodyPr/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03/04</a:t>
            </a:r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F29741D4-984B-AEC7-65CD-37E2BF4F08C5}"/>
              </a:ext>
            </a:extLst>
          </p:cNvPr>
          <p:cNvSpPr/>
          <p:nvPr/>
        </p:nvSpPr>
        <p:spPr>
          <a:xfrm>
            <a:off x="731520" y="128016"/>
            <a:ext cx="760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kern="0" spc="4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</a:p>
          <a:p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ACP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4" name="Image 53">
            <a:extLst>
              <a:ext uri="{FF2B5EF4-FFF2-40B4-BE49-F238E27FC236}">
                <a16:creationId xmlns:a16="http://schemas.microsoft.com/office/drawing/2014/main" id="{2C75CDDC-EBF0-B05B-6DEA-69E1B70C3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871216"/>
            <a:ext cx="6172200" cy="154699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7B31A-36C9-331B-687C-1436EC9F8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55">
            <a:extLst>
              <a:ext uri="{FF2B5EF4-FFF2-40B4-BE49-F238E27FC236}">
                <a16:creationId xmlns:a16="http://schemas.microsoft.com/office/drawing/2014/main" id="{F639933D-4120-8DBA-57B5-B8978D16059E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85723"/>
          </a:solidFill>
          <a:ln/>
        </p:spPr>
        <p:txBody>
          <a:bodyPr/>
          <a:lstStyle/>
          <a:p>
            <a:pPr algn="ctr"/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Sergina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BAKALA – 02/04/2026</a:t>
            </a:r>
          </a:p>
        </p:txBody>
      </p:sp>
      <p:sp>
        <p:nvSpPr>
          <p:cNvPr id="48" name="Shape 1">
            <a:extLst>
              <a:ext uri="{FF2B5EF4-FFF2-40B4-BE49-F238E27FC236}">
                <a16:creationId xmlns:a16="http://schemas.microsoft.com/office/drawing/2014/main" id="{07F3FE37-B8DB-6878-9365-4EFB972AE88C}"/>
              </a:ext>
            </a:extLst>
          </p:cNvPr>
          <p:cNvSpPr/>
          <p:nvPr/>
        </p:nvSpPr>
        <p:spPr>
          <a:xfrm>
            <a:off x="0" y="0"/>
            <a:ext cx="9144000" cy="649224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9" name="Shape 9">
            <a:extLst>
              <a:ext uri="{FF2B5EF4-FFF2-40B4-BE49-F238E27FC236}">
                <a16:creationId xmlns:a16="http://schemas.microsoft.com/office/drawing/2014/main" id="{E2BCE2CF-3D1E-9580-2A1F-3794479DEF4F}"/>
              </a:ext>
            </a:extLst>
          </p:cNvPr>
          <p:cNvSpPr/>
          <p:nvPr/>
        </p:nvSpPr>
        <p:spPr>
          <a:xfrm flipH="1">
            <a:off x="0" y="0"/>
            <a:ext cx="518400" cy="640080"/>
          </a:xfrm>
          <a:prstGeom prst="rect">
            <a:avLst/>
          </a:prstGeom>
          <a:solidFill>
            <a:srgbClr val="96C058"/>
          </a:solidFill>
          <a:ln/>
        </p:spPr>
        <p:txBody>
          <a:bodyPr/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03/04</a:t>
            </a:r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2125E1B3-830E-DDB9-9203-E9169A4359DE}"/>
              </a:ext>
            </a:extLst>
          </p:cNvPr>
          <p:cNvSpPr/>
          <p:nvPr/>
        </p:nvSpPr>
        <p:spPr>
          <a:xfrm>
            <a:off x="731520" y="128016"/>
            <a:ext cx="760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kern="0" spc="4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</a:p>
          <a:p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ACP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5C91E8B-A6BD-A2D9-1F07-025FE3014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" y="860555"/>
            <a:ext cx="4282440" cy="299516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F91FAB9-E268-2283-AD37-2E16393AF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860554"/>
            <a:ext cx="4363631" cy="2995165"/>
          </a:xfrm>
          <a:prstGeom prst="rect">
            <a:avLst/>
          </a:prstGeom>
        </p:spPr>
      </p:pic>
      <p:sp>
        <p:nvSpPr>
          <p:cNvPr id="11" name="Text 25">
            <a:extLst>
              <a:ext uri="{FF2B5EF4-FFF2-40B4-BE49-F238E27FC236}">
                <a16:creationId xmlns:a16="http://schemas.microsoft.com/office/drawing/2014/main" id="{19C62F47-59F0-B8E4-B10C-C974D3E06FCF}"/>
              </a:ext>
            </a:extLst>
          </p:cNvPr>
          <p:cNvSpPr/>
          <p:nvPr/>
        </p:nvSpPr>
        <p:spPr>
          <a:xfrm>
            <a:off x="190500" y="4137155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Les sols de type </a:t>
            </a:r>
            <a:r>
              <a:rPr lang="en-US" sz="1500" dirty="0" err="1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Vertisol</a:t>
            </a:r>
            <a:r>
              <a:rPr lang="en-US" sz="1500" dirty="0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Alluvium et Urban Areas </a:t>
            </a:r>
            <a:r>
              <a:rPr lang="en-US" sz="1500" dirty="0" err="1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sont</a:t>
            </a:r>
            <a:r>
              <a:rPr lang="en-US" sz="1500" dirty="0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groupés</a:t>
            </a:r>
            <a:r>
              <a:rPr lang="en-US" sz="1500" dirty="0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</a:t>
            </a:r>
            <a:r>
              <a:rPr lang="en-US" sz="1500" dirty="0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bas → </a:t>
            </a:r>
            <a:r>
              <a:rPr lang="en-US" sz="1500" dirty="0" err="1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profils</a:t>
            </a:r>
            <a:r>
              <a:rPr lang="en-US" sz="1500" dirty="0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homogènes</a:t>
            </a:r>
            <a:r>
              <a:rPr lang="en-US" sz="1500" dirty="0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sz="1500" dirty="0" err="1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moins</a:t>
            </a:r>
            <a:r>
              <a:rPr lang="en-US" sz="1500" dirty="0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pollués</a:t>
            </a:r>
            <a:endParaRPr lang="en-US" sz="1500" dirty="0">
              <a:solidFill>
                <a:srgbClr val="385723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500" dirty="0">
              <a:solidFill>
                <a:srgbClr val="38572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3FB4D2A-15AD-3C4E-0CF8-1BA0E891C9DC}"/>
              </a:ext>
            </a:extLst>
          </p:cNvPr>
          <p:cNvSpPr txBox="1"/>
          <p:nvPr/>
        </p:nvSpPr>
        <p:spPr>
          <a:xfrm>
            <a:off x="4467815" y="3958008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 err="1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L'historique</a:t>
            </a:r>
            <a:r>
              <a:rPr lang="en-US" sz="1500" dirty="0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500" dirty="0" err="1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bananier</a:t>
            </a:r>
            <a:r>
              <a:rPr lang="en-US" sz="1500" dirty="0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(</a:t>
            </a:r>
            <a:r>
              <a:rPr lang="en-US" sz="1500" dirty="0" err="1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histoBanane_bool</a:t>
            </a:r>
            <a:r>
              <a:rPr lang="en-US" sz="1500" dirty="0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=1) : </a:t>
            </a:r>
            <a:r>
              <a:rPr lang="en-US" sz="1500" dirty="0" err="1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facteur</a:t>
            </a:r>
            <a:r>
              <a:rPr lang="en-US" sz="1500" dirty="0">
                <a:solidFill>
                  <a:srgbClr val="3857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discriminant</a:t>
            </a:r>
            <a:endParaRPr lang="fr-FR" sz="1500" dirty="0">
              <a:solidFill>
                <a:srgbClr val="385723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74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ADBCB-8CF2-B669-020E-20F014841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55">
            <a:extLst>
              <a:ext uri="{FF2B5EF4-FFF2-40B4-BE49-F238E27FC236}">
                <a16:creationId xmlns:a16="http://schemas.microsoft.com/office/drawing/2014/main" id="{7A34B7B3-74FB-0375-E6EB-D52B2DD14E87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85723"/>
          </a:solidFill>
          <a:ln/>
        </p:spPr>
        <p:txBody>
          <a:bodyPr/>
          <a:lstStyle/>
          <a:p>
            <a:pPr algn="ctr"/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Sergina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BAKALA – 02/04/2026</a:t>
            </a:r>
          </a:p>
        </p:txBody>
      </p:sp>
      <p:sp>
        <p:nvSpPr>
          <p:cNvPr id="48" name="Shape 1">
            <a:extLst>
              <a:ext uri="{FF2B5EF4-FFF2-40B4-BE49-F238E27FC236}">
                <a16:creationId xmlns:a16="http://schemas.microsoft.com/office/drawing/2014/main" id="{42DB04CB-4719-E47E-A992-7FB585BAE0E6}"/>
              </a:ext>
            </a:extLst>
          </p:cNvPr>
          <p:cNvSpPr/>
          <p:nvPr/>
        </p:nvSpPr>
        <p:spPr>
          <a:xfrm>
            <a:off x="0" y="0"/>
            <a:ext cx="9144000" cy="649224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9" name="Shape 9">
            <a:extLst>
              <a:ext uri="{FF2B5EF4-FFF2-40B4-BE49-F238E27FC236}">
                <a16:creationId xmlns:a16="http://schemas.microsoft.com/office/drawing/2014/main" id="{F5C06FC6-F3DE-9D14-6876-C97F8B15250E}"/>
              </a:ext>
            </a:extLst>
          </p:cNvPr>
          <p:cNvSpPr/>
          <p:nvPr/>
        </p:nvSpPr>
        <p:spPr>
          <a:xfrm flipH="1">
            <a:off x="0" y="0"/>
            <a:ext cx="518400" cy="640080"/>
          </a:xfrm>
          <a:prstGeom prst="rect">
            <a:avLst/>
          </a:prstGeom>
          <a:solidFill>
            <a:srgbClr val="96C058"/>
          </a:solidFill>
          <a:ln/>
        </p:spPr>
        <p:txBody>
          <a:bodyPr/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03/04</a:t>
            </a:r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E36D444E-4B7A-190D-6F31-C294F4FC81A0}"/>
              </a:ext>
            </a:extLst>
          </p:cNvPr>
          <p:cNvSpPr/>
          <p:nvPr/>
        </p:nvSpPr>
        <p:spPr>
          <a:xfrm>
            <a:off x="731520" y="128016"/>
            <a:ext cx="760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kern="0" spc="4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</a:p>
          <a:p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CAH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023CA79-9967-7D47-2868-480FF0DBA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84" y="1274826"/>
            <a:ext cx="5090355" cy="2880360"/>
          </a:xfrm>
          <a:prstGeom prst="rect">
            <a:avLst/>
          </a:prstGeom>
        </p:spPr>
      </p:pic>
      <p:grpSp>
        <p:nvGrpSpPr>
          <p:cNvPr id="6" name="Groupe 5">
            <a:extLst>
              <a:ext uri="{FF2B5EF4-FFF2-40B4-BE49-F238E27FC236}">
                <a16:creationId xmlns:a16="http://schemas.microsoft.com/office/drawing/2014/main" id="{5453D433-7099-4EEA-4E1B-86AD5C51A24C}"/>
              </a:ext>
            </a:extLst>
          </p:cNvPr>
          <p:cNvGrpSpPr/>
          <p:nvPr/>
        </p:nvGrpSpPr>
        <p:grpSpPr>
          <a:xfrm>
            <a:off x="5518041" y="739902"/>
            <a:ext cx="3505475" cy="3538728"/>
            <a:chOff x="411480" y="1078992"/>
            <a:chExt cx="3730752" cy="3538728"/>
          </a:xfrm>
        </p:grpSpPr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05A9F351-E99D-5900-C74F-BE52CB26ECF6}"/>
                </a:ext>
              </a:extLst>
            </p:cNvPr>
            <p:cNvSpPr/>
            <p:nvPr/>
          </p:nvSpPr>
          <p:spPr>
            <a:xfrm>
              <a:off x="411480" y="1078992"/>
              <a:ext cx="365760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D4A843"/>
                  </a:solidFill>
                  <a:latin typeface="Arial" panose="020B0604020202020204" pitchFamily="34" charset="0"/>
                  <a:ea typeface="Calibri" pitchFamily="34" charset="-122"/>
                  <a:cs typeface="Arial" panose="020B0604020202020204" pitchFamily="34" charset="0"/>
                </a:rPr>
                <a:t>Classification des sols (Methode Ward)</a:t>
              </a:r>
              <a:endParaRPr 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Shape 7">
              <a:extLst>
                <a:ext uri="{FF2B5EF4-FFF2-40B4-BE49-F238E27FC236}">
                  <a16:creationId xmlns:a16="http://schemas.microsoft.com/office/drawing/2014/main" id="{DE723391-1054-7158-7B9B-0A957538DD01}"/>
                </a:ext>
              </a:extLst>
            </p:cNvPr>
            <p:cNvSpPr/>
            <p:nvPr/>
          </p:nvSpPr>
          <p:spPr>
            <a:xfrm>
              <a:off x="484632" y="1499616"/>
              <a:ext cx="3657600" cy="914400"/>
            </a:xfrm>
            <a:prstGeom prst="rect">
              <a:avLst/>
            </a:prstGeom>
            <a:solidFill>
              <a:srgbClr val="385723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9" name="Shape 8">
              <a:extLst>
                <a:ext uri="{FF2B5EF4-FFF2-40B4-BE49-F238E27FC236}">
                  <a16:creationId xmlns:a16="http://schemas.microsoft.com/office/drawing/2014/main" id="{BF04C897-F947-946F-DB12-A4491921EA2B}"/>
                </a:ext>
              </a:extLst>
            </p:cNvPr>
            <p:cNvSpPr/>
            <p:nvPr/>
          </p:nvSpPr>
          <p:spPr>
            <a:xfrm>
              <a:off x="411480" y="1508760"/>
              <a:ext cx="73152" cy="914400"/>
            </a:xfrm>
            <a:prstGeom prst="rect">
              <a:avLst/>
            </a:prstGeom>
            <a:solidFill>
              <a:srgbClr val="E05C4B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 9">
              <a:extLst>
                <a:ext uri="{FF2B5EF4-FFF2-40B4-BE49-F238E27FC236}">
                  <a16:creationId xmlns:a16="http://schemas.microsoft.com/office/drawing/2014/main" id="{29EC659D-81C9-2AF3-7ABE-B14B72BE4E43}"/>
                </a:ext>
              </a:extLst>
            </p:cNvPr>
            <p:cNvSpPr/>
            <p:nvPr/>
          </p:nvSpPr>
          <p:spPr>
            <a:xfrm>
              <a:off x="566928" y="1554480"/>
              <a:ext cx="3383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Groupe 1 — Andosols - Nitisols</a:t>
              </a:r>
              <a:endParaRPr lang="en-US" sz="100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E747243E-C878-5D3F-F83F-A2B06275A478}"/>
                </a:ext>
              </a:extLst>
            </p:cNvPr>
            <p:cNvSpPr/>
            <p:nvPr/>
          </p:nvSpPr>
          <p:spPr>
            <a:xfrm>
              <a:off x="566928" y="1856232"/>
              <a:ext cx="1371600" cy="201168"/>
            </a:xfrm>
            <a:prstGeom prst="rect">
              <a:avLst/>
            </a:prstGeom>
            <a:solidFill>
              <a:srgbClr val="E05C4B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F3D48DB3-E7F2-1701-DFD7-4A5A6E232E69}"/>
                </a:ext>
              </a:extLst>
            </p:cNvPr>
            <p:cNvSpPr/>
            <p:nvPr/>
          </p:nvSpPr>
          <p:spPr>
            <a:xfrm>
              <a:off x="566928" y="1856232"/>
              <a:ext cx="1371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C1B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RISQUE CRITIQUE</a:t>
              </a:r>
              <a:endParaRPr lang="en-US" sz="800" dirty="0"/>
            </a:p>
          </p:txBody>
        </p:sp>
        <p:sp>
          <p:nvSpPr>
            <p:cNvPr id="15" name="Text 12">
              <a:extLst>
                <a:ext uri="{FF2B5EF4-FFF2-40B4-BE49-F238E27FC236}">
                  <a16:creationId xmlns:a16="http://schemas.microsoft.com/office/drawing/2014/main" id="{EFCFB95C-0544-7EE0-3A37-14DC1ED7228F}"/>
                </a:ext>
              </a:extLst>
            </p:cNvPr>
            <p:cNvSpPr/>
            <p:nvPr/>
          </p:nvSpPr>
          <p:spPr>
            <a:xfrm>
              <a:off x="566928" y="2103120"/>
              <a:ext cx="3383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7A90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Forte retention — reservoir durable de chlordecone</a:t>
              </a:r>
              <a:endParaRPr lang="en-US" sz="900" dirty="0"/>
            </a:p>
          </p:txBody>
        </p:sp>
        <p:sp>
          <p:nvSpPr>
            <p:cNvPr id="16" name="Shape 13">
              <a:extLst>
                <a:ext uri="{FF2B5EF4-FFF2-40B4-BE49-F238E27FC236}">
                  <a16:creationId xmlns:a16="http://schemas.microsoft.com/office/drawing/2014/main" id="{3C25EE79-F55A-AA3A-42E4-C572EA64038B}"/>
                </a:ext>
              </a:extLst>
            </p:cNvPr>
            <p:cNvSpPr/>
            <p:nvPr/>
          </p:nvSpPr>
          <p:spPr>
            <a:xfrm>
              <a:off x="411480" y="2606040"/>
              <a:ext cx="3657600" cy="914400"/>
            </a:xfrm>
            <a:prstGeom prst="rect">
              <a:avLst/>
            </a:prstGeom>
            <a:solidFill>
              <a:srgbClr val="385723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Shape 14">
              <a:extLst>
                <a:ext uri="{FF2B5EF4-FFF2-40B4-BE49-F238E27FC236}">
                  <a16:creationId xmlns:a16="http://schemas.microsoft.com/office/drawing/2014/main" id="{4A8186B9-302A-59CA-E8AB-54A8EAB1DCBE}"/>
                </a:ext>
              </a:extLst>
            </p:cNvPr>
            <p:cNvSpPr/>
            <p:nvPr/>
          </p:nvSpPr>
          <p:spPr>
            <a:xfrm>
              <a:off x="411480" y="2606040"/>
              <a:ext cx="73152" cy="914400"/>
            </a:xfrm>
            <a:prstGeom prst="rect">
              <a:avLst/>
            </a:prstGeom>
            <a:solidFill>
              <a:srgbClr val="E8883A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 15">
              <a:extLst>
                <a:ext uri="{FF2B5EF4-FFF2-40B4-BE49-F238E27FC236}">
                  <a16:creationId xmlns:a16="http://schemas.microsoft.com/office/drawing/2014/main" id="{ED9FF053-5452-97B4-A095-D73DF747CE83}"/>
                </a:ext>
              </a:extLst>
            </p:cNvPr>
            <p:cNvSpPr/>
            <p:nvPr/>
          </p:nvSpPr>
          <p:spPr>
            <a:xfrm>
              <a:off x="566928" y="2651760"/>
              <a:ext cx="3383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Groupe 2 — Ferralsols - Cambisols</a:t>
              </a:r>
              <a:endParaRPr lang="en-US" sz="1000" dirty="0"/>
            </a:p>
          </p:txBody>
        </p:sp>
        <p:sp>
          <p:nvSpPr>
            <p:cNvPr id="19" name="Shape 16">
              <a:extLst>
                <a:ext uri="{FF2B5EF4-FFF2-40B4-BE49-F238E27FC236}">
                  <a16:creationId xmlns:a16="http://schemas.microsoft.com/office/drawing/2014/main" id="{A29C547B-3216-4A61-00C6-913836D08A76}"/>
                </a:ext>
              </a:extLst>
            </p:cNvPr>
            <p:cNvSpPr/>
            <p:nvPr/>
          </p:nvSpPr>
          <p:spPr>
            <a:xfrm>
              <a:off x="566928" y="2953512"/>
              <a:ext cx="1371600" cy="201168"/>
            </a:xfrm>
            <a:prstGeom prst="rect">
              <a:avLst/>
            </a:prstGeom>
            <a:solidFill>
              <a:srgbClr val="E8883A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 17">
              <a:extLst>
                <a:ext uri="{FF2B5EF4-FFF2-40B4-BE49-F238E27FC236}">
                  <a16:creationId xmlns:a16="http://schemas.microsoft.com/office/drawing/2014/main" id="{FDF0A9F7-37AC-10F3-B6BC-D970542D848C}"/>
                </a:ext>
              </a:extLst>
            </p:cNvPr>
            <p:cNvSpPr/>
            <p:nvPr/>
          </p:nvSpPr>
          <p:spPr>
            <a:xfrm>
              <a:off x="566928" y="2953512"/>
              <a:ext cx="1371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C1B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RISQUE MODERE</a:t>
              </a:r>
              <a:endParaRPr lang="en-US" sz="800" dirty="0"/>
            </a:p>
          </p:txBody>
        </p:sp>
        <p:sp>
          <p:nvSpPr>
            <p:cNvPr id="21" name="Text 18">
              <a:extLst>
                <a:ext uri="{FF2B5EF4-FFF2-40B4-BE49-F238E27FC236}">
                  <a16:creationId xmlns:a16="http://schemas.microsoft.com/office/drawing/2014/main" id="{5580BCDF-1FA6-85D8-39A0-B7940896376F}"/>
                </a:ext>
              </a:extLst>
            </p:cNvPr>
            <p:cNvSpPr/>
            <p:nvPr/>
          </p:nvSpPr>
          <p:spPr>
            <a:xfrm>
              <a:off x="566928" y="3200400"/>
              <a:ext cx="3383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7A90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Retention intermediaire — surveillance recommandee</a:t>
              </a:r>
              <a:endParaRPr lang="en-US" sz="900" dirty="0"/>
            </a:p>
          </p:txBody>
        </p:sp>
        <p:sp>
          <p:nvSpPr>
            <p:cNvPr id="22" name="Shape 19">
              <a:extLst>
                <a:ext uri="{FF2B5EF4-FFF2-40B4-BE49-F238E27FC236}">
                  <a16:creationId xmlns:a16="http://schemas.microsoft.com/office/drawing/2014/main" id="{3C3B6C9F-0B34-E150-6210-F8AB70EEF2F8}"/>
                </a:ext>
              </a:extLst>
            </p:cNvPr>
            <p:cNvSpPr/>
            <p:nvPr/>
          </p:nvSpPr>
          <p:spPr>
            <a:xfrm>
              <a:off x="411480" y="3703320"/>
              <a:ext cx="3657600" cy="914400"/>
            </a:xfrm>
            <a:prstGeom prst="rect">
              <a:avLst/>
            </a:prstGeom>
            <a:solidFill>
              <a:srgbClr val="385723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Shape 20">
              <a:extLst>
                <a:ext uri="{FF2B5EF4-FFF2-40B4-BE49-F238E27FC236}">
                  <a16:creationId xmlns:a16="http://schemas.microsoft.com/office/drawing/2014/main" id="{680BBCCE-D53D-5D23-6908-444C0CBC2F86}"/>
                </a:ext>
              </a:extLst>
            </p:cNvPr>
            <p:cNvSpPr/>
            <p:nvPr/>
          </p:nvSpPr>
          <p:spPr>
            <a:xfrm>
              <a:off x="411480" y="3703320"/>
              <a:ext cx="73152" cy="914400"/>
            </a:xfrm>
            <a:prstGeom prst="rect">
              <a:avLst/>
            </a:prstGeom>
            <a:solidFill>
              <a:srgbClr val="2BBFAA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Text 21">
              <a:extLst>
                <a:ext uri="{FF2B5EF4-FFF2-40B4-BE49-F238E27FC236}">
                  <a16:creationId xmlns:a16="http://schemas.microsoft.com/office/drawing/2014/main" id="{B5421A12-E26F-F467-47A9-1AF0A9E9B704}"/>
                </a:ext>
              </a:extLst>
            </p:cNvPr>
            <p:cNvSpPr/>
            <p:nvPr/>
          </p:nvSpPr>
          <p:spPr>
            <a:xfrm>
              <a:off x="566928" y="3749040"/>
              <a:ext cx="3383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Groupe 3 — Vertisols - Alluvium - Urban</a:t>
              </a:r>
              <a:endParaRPr lang="en-US" sz="1000" dirty="0"/>
            </a:p>
          </p:txBody>
        </p:sp>
        <p:sp>
          <p:nvSpPr>
            <p:cNvPr id="25" name="Shape 22">
              <a:extLst>
                <a:ext uri="{FF2B5EF4-FFF2-40B4-BE49-F238E27FC236}">
                  <a16:creationId xmlns:a16="http://schemas.microsoft.com/office/drawing/2014/main" id="{11246A0D-A4D0-8920-6815-E50D06E8E105}"/>
                </a:ext>
              </a:extLst>
            </p:cNvPr>
            <p:cNvSpPr/>
            <p:nvPr/>
          </p:nvSpPr>
          <p:spPr>
            <a:xfrm>
              <a:off x="566928" y="4050792"/>
              <a:ext cx="1371600" cy="201168"/>
            </a:xfrm>
            <a:prstGeom prst="rect">
              <a:avLst/>
            </a:prstGeom>
            <a:solidFill>
              <a:srgbClr val="2BBFAA"/>
            </a:solidFill>
            <a:ln/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Text 23">
              <a:extLst>
                <a:ext uri="{FF2B5EF4-FFF2-40B4-BE49-F238E27FC236}">
                  <a16:creationId xmlns:a16="http://schemas.microsoft.com/office/drawing/2014/main" id="{68B41335-69A1-E447-8FBA-FCCED48E9B97}"/>
                </a:ext>
              </a:extLst>
            </p:cNvPr>
            <p:cNvSpPr/>
            <p:nvPr/>
          </p:nvSpPr>
          <p:spPr>
            <a:xfrm>
              <a:off x="566928" y="4050792"/>
              <a:ext cx="137160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0C1B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RISQUE FAIBLE</a:t>
              </a:r>
              <a:endParaRPr lang="en-US" sz="800" dirty="0"/>
            </a:p>
          </p:txBody>
        </p:sp>
        <p:sp>
          <p:nvSpPr>
            <p:cNvPr id="27" name="Text 24">
              <a:extLst>
                <a:ext uri="{FF2B5EF4-FFF2-40B4-BE49-F238E27FC236}">
                  <a16:creationId xmlns:a16="http://schemas.microsoft.com/office/drawing/2014/main" id="{B90E0138-2CE5-9D30-9791-8565B2CEFBBA}"/>
                </a:ext>
              </a:extLst>
            </p:cNvPr>
            <p:cNvSpPr/>
            <p:nvPr/>
          </p:nvSpPr>
          <p:spPr>
            <a:xfrm>
              <a:off x="566928" y="4297680"/>
              <a:ext cx="33832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7A90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Faible retention — profils les plus sains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507033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ECB26-E5B5-C1E6-9920-4AE0A2A1C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55">
            <a:extLst>
              <a:ext uri="{FF2B5EF4-FFF2-40B4-BE49-F238E27FC236}">
                <a16:creationId xmlns:a16="http://schemas.microsoft.com/office/drawing/2014/main" id="{0C1EEB77-AF76-D30C-300A-1F71E89C8829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85723"/>
          </a:solidFill>
          <a:ln/>
        </p:spPr>
        <p:txBody>
          <a:bodyPr/>
          <a:lstStyle/>
          <a:p>
            <a:pPr algn="ctr"/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Sergina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BAKALA – 02/04/2026</a:t>
            </a:r>
          </a:p>
        </p:txBody>
      </p:sp>
      <p:sp>
        <p:nvSpPr>
          <p:cNvPr id="48" name="Shape 1">
            <a:extLst>
              <a:ext uri="{FF2B5EF4-FFF2-40B4-BE49-F238E27FC236}">
                <a16:creationId xmlns:a16="http://schemas.microsoft.com/office/drawing/2014/main" id="{ADD0EBA8-123A-9FBB-1427-47CD64088192}"/>
              </a:ext>
            </a:extLst>
          </p:cNvPr>
          <p:cNvSpPr/>
          <p:nvPr/>
        </p:nvSpPr>
        <p:spPr>
          <a:xfrm>
            <a:off x="0" y="0"/>
            <a:ext cx="9144000" cy="649224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9" name="Shape 9">
            <a:extLst>
              <a:ext uri="{FF2B5EF4-FFF2-40B4-BE49-F238E27FC236}">
                <a16:creationId xmlns:a16="http://schemas.microsoft.com/office/drawing/2014/main" id="{40E62ED0-4942-A5C0-81C2-103D5B84FDDB}"/>
              </a:ext>
            </a:extLst>
          </p:cNvPr>
          <p:cNvSpPr/>
          <p:nvPr/>
        </p:nvSpPr>
        <p:spPr>
          <a:xfrm flipH="1">
            <a:off x="0" y="0"/>
            <a:ext cx="518400" cy="640080"/>
          </a:xfrm>
          <a:prstGeom prst="rect">
            <a:avLst/>
          </a:prstGeom>
          <a:solidFill>
            <a:srgbClr val="55C39E"/>
          </a:solidFill>
          <a:ln/>
        </p:spPr>
        <p:txBody>
          <a:bodyPr/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04/04</a:t>
            </a:r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9D2E86D7-E74C-C356-E4F8-B96C56100D3F}"/>
              </a:ext>
            </a:extLst>
          </p:cNvPr>
          <p:cNvSpPr/>
          <p:nvPr/>
        </p:nvSpPr>
        <p:spPr>
          <a:xfrm>
            <a:off x="731520" y="128016"/>
            <a:ext cx="760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kern="0" spc="4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</a:p>
          <a:p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7836EF8D-AC61-C1C1-B856-E5824A7E8A1F}"/>
              </a:ext>
            </a:extLst>
          </p:cNvPr>
          <p:cNvSpPr/>
          <p:nvPr/>
        </p:nvSpPr>
        <p:spPr>
          <a:xfrm>
            <a:off x="2560320" y="742950"/>
            <a:ext cx="4389120" cy="3657600"/>
          </a:xfrm>
          <a:prstGeom prst="rect">
            <a:avLst/>
          </a:prstGeom>
          <a:solidFill>
            <a:srgbClr val="14735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C7F18E37-FECE-FBAF-8E26-A2C5F45A3FA4}"/>
              </a:ext>
            </a:extLst>
          </p:cNvPr>
          <p:cNvSpPr/>
          <p:nvPr/>
        </p:nvSpPr>
        <p:spPr>
          <a:xfrm>
            <a:off x="2545080" y="1371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</a:t>
            </a:r>
            <a:endParaRPr lang="en-US" sz="40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2C34EA50-1DF5-C040-CF5F-A57248D54424}"/>
              </a:ext>
            </a:extLst>
          </p:cNvPr>
          <p:cNvSpPr/>
          <p:nvPr/>
        </p:nvSpPr>
        <p:spPr>
          <a:xfrm>
            <a:off x="2545080" y="22860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Folium — Martinique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21354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27D48-10B3-D42D-D742-469AE3FF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FA597AF-D173-A4DA-D72F-EBB10951DEFD}"/>
              </a:ext>
            </a:extLst>
          </p:cNvPr>
          <p:cNvSpPr/>
          <p:nvPr/>
        </p:nvSpPr>
        <p:spPr>
          <a:xfrm>
            <a:off x="4358640" y="918875"/>
            <a:ext cx="4655700" cy="2488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Shape 55">
            <a:extLst>
              <a:ext uri="{FF2B5EF4-FFF2-40B4-BE49-F238E27FC236}">
                <a16:creationId xmlns:a16="http://schemas.microsoft.com/office/drawing/2014/main" id="{6AAC11C2-B929-F3A5-E594-3B8E11CF0A18}"/>
              </a:ext>
            </a:extLst>
          </p:cNvPr>
          <p:cNvSpPr/>
          <p:nvPr/>
        </p:nvSpPr>
        <p:spPr>
          <a:xfrm>
            <a:off x="0" y="4846320"/>
            <a:ext cx="9090660" cy="297180"/>
          </a:xfrm>
          <a:prstGeom prst="rect">
            <a:avLst/>
          </a:prstGeom>
          <a:solidFill>
            <a:srgbClr val="385723"/>
          </a:solidFill>
          <a:ln/>
        </p:spPr>
        <p:txBody>
          <a:bodyPr/>
          <a:lstStyle/>
          <a:p>
            <a:pPr algn="ctr"/>
            <a:r>
              <a:rPr lang="fr-FR" sz="12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Sergina</a:t>
            </a:r>
            <a:r>
              <a:rPr lang="fr-F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BAKALA – 02/04/2026</a:t>
            </a:r>
          </a:p>
        </p:txBody>
      </p:sp>
      <p:sp>
        <p:nvSpPr>
          <p:cNvPr id="48" name="Shape 1">
            <a:extLst>
              <a:ext uri="{FF2B5EF4-FFF2-40B4-BE49-F238E27FC236}">
                <a16:creationId xmlns:a16="http://schemas.microsoft.com/office/drawing/2014/main" id="{2C4BCD1F-87EB-1622-0512-C36D4396CEF2}"/>
              </a:ext>
            </a:extLst>
          </p:cNvPr>
          <p:cNvSpPr/>
          <p:nvPr/>
        </p:nvSpPr>
        <p:spPr>
          <a:xfrm>
            <a:off x="0" y="0"/>
            <a:ext cx="9144000" cy="649224"/>
          </a:xfrm>
          <a:prstGeom prst="rect">
            <a:avLst/>
          </a:prstGeom>
          <a:solidFill>
            <a:schemeClr val="accent6">
              <a:lumMod val="50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49" name="Shape 9">
            <a:extLst>
              <a:ext uri="{FF2B5EF4-FFF2-40B4-BE49-F238E27FC236}">
                <a16:creationId xmlns:a16="http://schemas.microsoft.com/office/drawing/2014/main" id="{43870F50-8D47-AFC5-D429-2E5A14EAB683}"/>
              </a:ext>
            </a:extLst>
          </p:cNvPr>
          <p:cNvSpPr/>
          <p:nvPr/>
        </p:nvSpPr>
        <p:spPr>
          <a:xfrm flipH="1">
            <a:off x="0" y="0"/>
            <a:ext cx="518400" cy="640080"/>
          </a:xfrm>
          <a:prstGeom prst="rect">
            <a:avLst/>
          </a:prstGeom>
          <a:solidFill>
            <a:srgbClr val="55C39E"/>
          </a:solidFill>
          <a:ln/>
        </p:spPr>
        <p:txBody>
          <a:bodyPr/>
          <a:lstStyle/>
          <a:p>
            <a:pPr algn="ctr"/>
            <a:r>
              <a:rPr 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04/04</a:t>
            </a:r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BBF12ADF-F1A4-0AE5-DF43-29C17F4B09C5}"/>
              </a:ext>
            </a:extLst>
          </p:cNvPr>
          <p:cNvSpPr/>
          <p:nvPr/>
        </p:nvSpPr>
        <p:spPr>
          <a:xfrm>
            <a:off x="731520" y="128016"/>
            <a:ext cx="760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kern="0" spc="400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</a:p>
          <a:p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D46117D-3080-A405-AD5F-BEE8DF028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60" y="933256"/>
            <a:ext cx="3343058" cy="2411924"/>
          </a:xfrm>
          <a:prstGeom prst="rect">
            <a:avLst/>
          </a:prstGeom>
        </p:spPr>
      </p:pic>
      <p:sp>
        <p:nvSpPr>
          <p:cNvPr id="11" name="Text 14">
            <a:extLst>
              <a:ext uri="{FF2B5EF4-FFF2-40B4-BE49-F238E27FC236}">
                <a16:creationId xmlns:a16="http://schemas.microsoft.com/office/drawing/2014/main" id="{61CC5E17-81FA-BAE8-077B-1B165505BCF1}"/>
              </a:ext>
            </a:extLst>
          </p:cNvPr>
          <p:cNvSpPr/>
          <p:nvPr/>
        </p:nvSpPr>
        <p:spPr>
          <a:xfrm>
            <a:off x="259200" y="3752850"/>
            <a:ext cx="341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5C39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Les politiques de lutte semblent efficaces, mais un pic résiduel en 2017 appelle à la vigilance continue.</a:t>
            </a:r>
            <a:endParaRPr lang="en-US" dirty="0">
              <a:solidFill>
                <a:srgbClr val="55C39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26D6B49C-CFC9-C004-E24E-C258183D9EA2}"/>
              </a:ext>
            </a:extLst>
          </p:cNvPr>
          <p:cNvSpPr/>
          <p:nvPr/>
        </p:nvSpPr>
        <p:spPr>
          <a:xfrm>
            <a:off x="4572000" y="1195577"/>
            <a:ext cx="4091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D7A6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 </a:t>
            </a:r>
            <a:r>
              <a:rPr lang="en-US" i="1" dirty="0" err="1">
                <a:solidFill>
                  <a:srgbClr val="5D7A6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Niveau</a:t>
            </a:r>
            <a:r>
              <a:rPr lang="en-US" i="1" dirty="0">
                <a:solidFill>
                  <a:srgbClr val="5D7A6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1 : </a:t>
            </a:r>
            <a:r>
              <a:rPr lang="en-US" i="1" dirty="0" err="1">
                <a:solidFill>
                  <a:srgbClr val="5D7A6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Toutes</a:t>
            </a:r>
            <a:r>
              <a:rPr lang="en-US" i="1" dirty="0">
                <a:solidFill>
                  <a:srgbClr val="5D7A6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cultures autorisées (tubercules, fruits, légumes)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16B3E6F5-89B2-3D8E-7893-BDECC99CA304}"/>
              </a:ext>
            </a:extLst>
          </p:cNvPr>
          <p:cNvSpPr/>
          <p:nvPr/>
        </p:nvSpPr>
        <p:spPr>
          <a:xfrm>
            <a:off x="4572000" y="1879091"/>
            <a:ext cx="4091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D7A6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 </a:t>
            </a:r>
            <a:r>
              <a:rPr lang="en-US" i="1" dirty="0" err="1">
                <a:solidFill>
                  <a:srgbClr val="5D7A6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Niveau</a:t>
            </a:r>
            <a:r>
              <a:rPr lang="en-US" i="1" dirty="0">
                <a:solidFill>
                  <a:srgbClr val="5D7A6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2 : Cultures aériennes prioritaires. Analyse obligatoire avant légumes racines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9ADE4452-1E39-F884-9A7F-0CDEFA4FA59C}"/>
              </a:ext>
            </a:extLst>
          </p:cNvPr>
          <p:cNvSpPr/>
          <p:nvPr/>
        </p:nvSpPr>
        <p:spPr>
          <a:xfrm>
            <a:off x="4572000" y="2592325"/>
            <a:ext cx="40919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D7A6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→ </a:t>
            </a:r>
            <a:r>
              <a:rPr lang="en-US" i="1" dirty="0" err="1">
                <a:solidFill>
                  <a:srgbClr val="5D7A6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Niveau</a:t>
            </a:r>
            <a:r>
              <a:rPr lang="en-US" i="1" dirty="0">
                <a:solidFill>
                  <a:srgbClr val="5D7A6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3 : Cultures hors-sol uniquement. Dépollution recommandée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7509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572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8C493C-154A-B24E-1526-835BD57B4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5979EDB-A022-C67F-69C6-E68B7AD12A00}"/>
              </a:ext>
            </a:extLst>
          </p:cNvPr>
          <p:cNvSpPr/>
          <p:nvPr/>
        </p:nvSpPr>
        <p:spPr>
          <a:xfrm>
            <a:off x="5274564" y="11430"/>
            <a:ext cx="3869436" cy="51320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15B047C-4A63-F136-89C3-1A93B5D12EC8}"/>
              </a:ext>
            </a:extLst>
          </p:cNvPr>
          <p:cNvSpPr/>
          <p:nvPr/>
        </p:nvSpPr>
        <p:spPr>
          <a:xfrm>
            <a:off x="640080" y="457200"/>
            <a:ext cx="54864" cy="4023360"/>
          </a:xfrm>
          <a:prstGeom prst="rect">
            <a:avLst/>
          </a:prstGeom>
          <a:solidFill>
            <a:srgbClr val="62A53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9A13078-3EE0-46C5-3EBC-87A681D18C58}"/>
              </a:ext>
            </a:extLst>
          </p:cNvPr>
          <p:cNvSpPr/>
          <p:nvPr/>
        </p:nvSpPr>
        <p:spPr>
          <a:xfrm>
            <a:off x="822959" y="1005840"/>
            <a:ext cx="63374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F9451F9-EE10-3AC0-EC50-3C8F18CCF3FF}"/>
              </a:ext>
            </a:extLst>
          </p:cNvPr>
          <p:cNvSpPr/>
          <p:nvPr/>
        </p:nvSpPr>
        <p:spPr>
          <a:xfrm>
            <a:off x="822959" y="1211580"/>
            <a:ext cx="5981702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62A53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Merci de </a:t>
            </a:r>
            <a:r>
              <a:rPr lang="en-US" sz="4800" b="1" dirty="0" err="1">
                <a:solidFill>
                  <a:srgbClr val="62A53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votre</a:t>
            </a:r>
            <a:r>
              <a:rPr lang="en-US" sz="4800" b="1" dirty="0">
                <a:solidFill>
                  <a:srgbClr val="62A53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attention !</a:t>
            </a:r>
            <a:endParaRPr lang="en-US" sz="4800" dirty="0">
              <a:solidFill>
                <a:srgbClr val="62A53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88631246-395E-4D2B-81C0-1B799947F89D}"/>
              </a:ext>
            </a:extLst>
          </p:cNvPr>
          <p:cNvSpPr/>
          <p:nvPr/>
        </p:nvSpPr>
        <p:spPr>
          <a:xfrm>
            <a:off x="822959" y="3855427"/>
            <a:ext cx="36794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9425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529</Words>
  <Application>Microsoft Office PowerPoint</Application>
  <PresentationFormat>Affichage à l'écran (16:9)</PresentationFormat>
  <Paragraphs>142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Chlordécone en Martinique — V2</dc:title>
  <dc:subject>PptxGenJS Presentation</dc:subject>
  <dc:creator>PptxGenJS</dc:creator>
  <cp:lastModifiedBy>SERGINA BAKALA</cp:lastModifiedBy>
  <cp:revision>9</cp:revision>
  <dcterms:created xsi:type="dcterms:W3CDTF">2026-03-28T16:54:58Z</dcterms:created>
  <dcterms:modified xsi:type="dcterms:W3CDTF">2026-03-28T21:59:27Z</dcterms:modified>
</cp:coreProperties>
</file>